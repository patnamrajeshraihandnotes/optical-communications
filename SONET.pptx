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9"/>
  </p:notesMasterIdLst>
  <p:sldIdLst>
    <p:sldId id="256" r:id="rId2"/>
    <p:sldId id="257" r:id="rId3"/>
    <p:sldId id="258" r:id="rId4"/>
    <p:sldId id="259" r:id="rId5"/>
    <p:sldId id="275" r:id="rId6"/>
    <p:sldId id="274" r:id="rId7"/>
    <p:sldId id="278" r:id="rId8"/>
    <p:sldId id="280" r:id="rId9"/>
    <p:sldId id="279" r:id="rId10"/>
    <p:sldId id="269" r:id="rId11"/>
    <p:sldId id="270" r:id="rId12"/>
    <p:sldId id="272" r:id="rId13"/>
    <p:sldId id="271" r:id="rId14"/>
    <p:sldId id="273" r:id="rId15"/>
    <p:sldId id="260" r:id="rId16"/>
    <p:sldId id="281" r:id="rId17"/>
    <p:sldId id="282" r:id="rId18"/>
    <p:sldId id="276" r:id="rId19"/>
    <p:sldId id="283" r:id="rId20"/>
    <p:sldId id="284" r:id="rId21"/>
    <p:sldId id="267" r:id="rId22"/>
    <p:sldId id="268" r:id="rId23"/>
    <p:sldId id="294" r:id="rId24"/>
    <p:sldId id="295" r:id="rId25"/>
    <p:sldId id="285" r:id="rId26"/>
    <p:sldId id="286" r:id="rId27"/>
    <p:sldId id="287" r:id="rId28"/>
    <p:sldId id="288" r:id="rId29"/>
    <p:sldId id="289" r:id="rId30"/>
    <p:sldId id="290" r:id="rId31"/>
    <p:sldId id="291" r:id="rId32"/>
    <p:sldId id="292" r:id="rId33"/>
    <p:sldId id="296" r:id="rId34"/>
    <p:sldId id="298" r:id="rId35"/>
    <p:sldId id="297" r:id="rId36"/>
    <p:sldId id="299" r:id="rId37"/>
    <p:sldId id="30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98" autoAdjust="0"/>
  </p:normalViewPr>
  <p:slideViewPr>
    <p:cSldViewPr>
      <p:cViewPr varScale="1">
        <p:scale>
          <a:sx n="69" d="100"/>
          <a:sy n="69" d="100"/>
        </p:scale>
        <p:origin x="-546" y="-12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D234CD-7BEB-444D-BE32-0D932A8493F8}" type="datetimeFigureOut">
              <a:rPr lang="en-US" smtClean="0"/>
              <a:pPr/>
              <a:t>2/23/2012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435D8A-F231-4456-91DE-85050D15646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A435D8A-F231-4456-91DE-85050D156469}" type="slidenum">
              <a:rPr lang="en-US" smtClean="0"/>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483AB9-95A5-48CD-AA74-D32349041DC4}" type="datetimeFigureOut">
              <a:rPr lang="en-US" smtClean="0"/>
              <a:pPr/>
              <a:t>2/23/2012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483AB9-95A5-48CD-AA74-D32349041DC4}" type="datetimeFigureOut">
              <a:rPr lang="en-US" smtClean="0"/>
              <a:pPr/>
              <a:t>2/23/2012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483AB9-95A5-48CD-AA74-D32349041DC4}" type="datetimeFigureOut">
              <a:rPr lang="en-US" smtClean="0"/>
              <a:pPr/>
              <a:t>2/23/2012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483AB9-95A5-48CD-AA74-D32349041DC4}" type="datetimeFigureOut">
              <a:rPr lang="en-US" smtClean="0"/>
              <a:pPr/>
              <a:t>2/23/2012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483AB9-95A5-48CD-AA74-D32349041DC4}" type="datetimeFigureOut">
              <a:rPr lang="en-US" smtClean="0"/>
              <a:pPr/>
              <a:t>2/23/2012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483AB9-95A5-48CD-AA74-D32349041DC4}" type="datetimeFigureOut">
              <a:rPr lang="en-US" smtClean="0"/>
              <a:pPr/>
              <a:t>2/23/2012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83AB9-95A5-48CD-AA74-D32349041DC4}" type="datetimeFigureOut">
              <a:rPr lang="en-US" smtClean="0"/>
              <a:pPr/>
              <a:t>2/23/2012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483AB9-95A5-48CD-AA74-D32349041DC4}" type="datetimeFigureOut">
              <a:rPr lang="en-US" smtClean="0"/>
              <a:pPr/>
              <a:t>2/23/2012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483AB9-95A5-48CD-AA74-D32349041DC4}" type="datetimeFigureOut">
              <a:rPr lang="en-US" smtClean="0"/>
              <a:pPr/>
              <a:t>2/23/2012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483AB9-95A5-48CD-AA74-D32349041DC4}" type="datetimeFigureOut">
              <a:rPr lang="en-US" smtClean="0"/>
              <a:pPr/>
              <a:t>2/23/2012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483AB9-95A5-48CD-AA74-D32349041DC4}" type="datetimeFigureOut">
              <a:rPr lang="en-US" smtClean="0"/>
              <a:pPr/>
              <a:t>2/23/2012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C050D8-C246-4D23-867E-5BB5910389D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483AB9-95A5-48CD-AA74-D32349041DC4}" type="datetimeFigureOut">
              <a:rPr lang="en-US" smtClean="0"/>
              <a:pPr/>
              <a:t>2/23/2012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C050D8-C246-4D23-867E-5BB5910389D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k:@MSITStore:C:\Documents%20and%20Settings\Dell\Desktop\optical%20communication\books\Cisco.Press.Optical.Network.Design.and.Implementation.eBook.chm::/1587051052/images/1587051052/graphics/05fig01_alt.gi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k:@MSITStore:C:\Documents%20and%20Settings\Dell\Desktop\optical%20communication\books\Cisco.Press.Optical.Network.Design.and.Implementation.eBook.chm::/1587051052/gloss01div17.html#gloss01div17entry10" TargetMode="External"/><Relationship Id="rId2" Type="http://schemas.openxmlformats.org/officeDocument/2006/relationships/hyperlink" Target="mk:@MSITStore:C:\Documents%20and%20Settings\Dell\Desktop\optical%20communication\books\Cisco.Press.Optical.Network.Design.and.Implementation.eBook.chm::/1587051052/gloss01div09.html#gloss01div09entry01"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ch05table01"/></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SONET</a:t>
            </a:r>
            <a:endParaRPr lang="en-US" dirty="0"/>
          </a:p>
        </p:txBody>
      </p:sp>
      <p:sp>
        <p:nvSpPr>
          <p:cNvPr id="3" name="Subtitle 2"/>
          <p:cNvSpPr>
            <a:spLocks noGrp="1"/>
          </p:cNvSpPr>
          <p:nvPr>
            <p:ph type="subTitle" idx="1"/>
          </p:nvPr>
        </p:nvSpPr>
        <p:spPr/>
        <p:txBody>
          <a:bodyPr/>
          <a:lstStyle/>
          <a:p>
            <a:r>
              <a:rPr lang="en-US" dirty="0" smtClean="0"/>
              <a:t>A.SANGEETHA</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Asynchronous </a:t>
            </a:r>
            <a:r>
              <a:rPr lang="en-US" b="1" dirty="0"/>
              <a:t>Systems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Electrical signals which are used in transmission use system clocks which are very accurate. </a:t>
            </a:r>
            <a:endParaRPr lang="en-US" dirty="0" smtClean="0"/>
          </a:p>
          <a:p>
            <a:pPr algn="just"/>
            <a:r>
              <a:rPr lang="en-US" dirty="0" smtClean="0"/>
              <a:t>Generally</a:t>
            </a:r>
            <a:r>
              <a:rPr lang="en-US" dirty="0"/>
              <a:t>, they use clocks which are based on natural frequency of vibration of some crystals, such as quartz crystals. </a:t>
            </a:r>
            <a:endParaRPr lang="en-US" dirty="0" smtClean="0"/>
          </a:p>
          <a:p>
            <a:pPr algn="just"/>
            <a:r>
              <a:rPr lang="en-US" dirty="0" smtClean="0"/>
              <a:t>Though </a:t>
            </a:r>
            <a:r>
              <a:rPr lang="en-US" dirty="0"/>
              <a:t>such clocks are accurate, there can be differences between different clocks used by different systems and such clocks are not </a:t>
            </a:r>
            <a:r>
              <a:rPr lang="en-US" dirty="0" err="1"/>
              <a:t>synchronised</a:t>
            </a:r>
            <a:r>
              <a:rPr lang="en-US" dirty="0"/>
              <a:t>. Such systems are called </a:t>
            </a:r>
            <a:r>
              <a:rPr lang="en-US" b="1" dirty="0"/>
              <a:t>asynchronous </a:t>
            </a:r>
            <a:r>
              <a:rPr lang="en-US" dirty="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Plesiochronous</a:t>
            </a:r>
            <a:r>
              <a:rPr lang="en-US" b="1" dirty="0"/>
              <a:t> Digital Hierarchy (PDH)</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 </a:t>
            </a:r>
            <a:r>
              <a:rPr lang="en-US" dirty="0" err="1"/>
              <a:t>plesiochronous</a:t>
            </a:r>
            <a:r>
              <a:rPr lang="en-US" dirty="0"/>
              <a:t> system also uses different clocks but they are accurate to within a specified tolerance. Thus the clocks have phase differences. </a:t>
            </a:r>
            <a:endParaRPr lang="en-US" dirty="0" smtClean="0"/>
          </a:p>
          <a:p>
            <a:r>
              <a:rPr lang="en-US" b="1" dirty="0" err="1" smtClean="0"/>
              <a:t>Plesiochronous</a:t>
            </a:r>
            <a:r>
              <a:rPr lang="en-US" b="1" dirty="0" smtClean="0"/>
              <a:t> </a:t>
            </a:r>
            <a:r>
              <a:rPr lang="en-US" b="1" dirty="0"/>
              <a:t>Digital Hierarchy (PDH) </a:t>
            </a:r>
            <a:r>
              <a:rPr lang="en-US" dirty="0"/>
              <a:t>was the most commonly used digital transmission system before the advantage of SDH. </a:t>
            </a:r>
            <a:endParaRPr lang="en-US" dirty="0" smtClean="0"/>
          </a:p>
          <a:p>
            <a:r>
              <a:rPr lang="en-US" dirty="0" smtClean="0"/>
              <a:t>To </a:t>
            </a:r>
            <a:r>
              <a:rPr lang="en-US" dirty="0"/>
              <a:t>accommodate delays between different clocks, extra bit(s), known </a:t>
            </a:r>
            <a:r>
              <a:rPr lang="en-US" dirty="0" smtClean="0"/>
              <a:t>as </a:t>
            </a:r>
            <a:r>
              <a:rPr lang="en-US" b="1" dirty="0" smtClean="0"/>
              <a:t>justification </a:t>
            </a:r>
            <a:r>
              <a:rPr lang="en-US" b="1" dirty="0"/>
              <a:t>bits </a:t>
            </a:r>
            <a:r>
              <a:rPr lang="en-US" dirty="0"/>
              <a:t>may be added to the multiplexed stream. This is known as </a:t>
            </a:r>
            <a:r>
              <a:rPr lang="en-US" b="1" dirty="0"/>
              <a:t>bit stuffing </a:t>
            </a:r>
            <a:r>
              <a:rPr lang="en-US" dirty="0"/>
              <a:t>. These bits will have to discarded while </a:t>
            </a:r>
            <a:r>
              <a:rPr lang="en-US" dirty="0" err="1"/>
              <a:t>demultiplexing</a:t>
            </a:r>
            <a:r>
              <a:rPr lang="en-US" dirty="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pPr algn="just"/>
            <a:r>
              <a:rPr lang="en-US" dirty="0" smtClean="0"/>
              <a:t>At </a:t>
            </a:r>
            <a:r>
              <a:rPr lang="en-US" dirty="0"/>
              <a:t>higher speeds, it does not allow adding or dropping channels without having to first </a:t>
            </a:r>
            <a:r>
              <a:rPr lang="en-US" dirty="0" err="1"/>
              <a:t>demultiplexing</a:t>
            </a:r>
            <a:r>
              <a:rPr lang="en-US" dirty="0"/>
              <a:t> the channels. </a:t>
            </a:r>
            <a:endParaRPr lang="en-US" dirty="0" smtClean="0"/>
          </a:p>
          <a:p>
            <a:pPr algn="just"/>
            <a:r>
              <a:rPr lang="en-US" dirty="0"/>
              <a:t>For instance, consider a service provider who has to provide a 2 Mbps line to a customer from his bandwidth of 155 Mbps</a:t>
            </a:r>
            <a:r>
              <a:rPr lang="en-US" dirty="0" smtClean="0"/>
              <a:t>.</a:t>
            </a:r>
          </a:p>
          <a:p>
            <a:pPr algn="just"/>
            <a:r>
              <a:rPr lang="en-US" dirty="0" smtClean="0"/>
              <a:t>He </a:t>
            </a:r>
            <a:r>
              <a:rPr lang="en-US" dirty="0"/>
              <a:t>has to locate and identify frames in the 2 Mb line. For this, the service provider will have to first </a:t>
            </a:r>
            <a:r>
              <a:rPr lang="en-US" dirty="0" err="1"/>
              <a:t>demultiplex</a:t>
            </a:r>
            <a:r>
              <a:rPr lang="en-US" dirty="0"/>
              <a:t> the line into its 64 kbps constituents, add the customer and </a:t>
            </a:r>
            <a:r>
              <a:rPr lang="en-US" dirty="0" err="1"/>
              <a:t>remultiplex</a:t>
            </a:r>
            <a:r>
              <a:rPr lang="en-US" dirty="0"/>
              <a:t> the system. </a:t>
            </a:r>
            <a:endParaRPr lang="en-US" dirty="0" smtClean="0"/>
          </a:p>
          <a:p>
            <a:pPr algn="just"/>
            <a:r>
              <a:rPr lang="en-US" dirty="0" smtClean="0"/>
              <a:t>The </a:t>
            </a:r>
            <a:r>
              <a:rPr lang="en-US" dirty="0"/>
              <a:t>Digital telephone hierarchy for the North America and Europe is shown in the following table. Japan uses a scheme which is close to that of Europe but is not identical with it. The data rates are in </a:t>
            </a:r>
            <a:r>
              <a:rPr lang="en-US" dirty="0" err="1"/>
              <a:t>Mbit</a:t>
            </a:r>
            <a:r>
              <a:rPr lang="en-US" dirty="0"/>
              <a:t>/sec.</a:t>
            </a:r>
          </a:p>
          <a:p>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SONET Integration of TDM Signals</a:t>
            </a:r>
            <a:endParaRPr lang="en-US" dirty="0"/>
          </a:p>
        </p:txBody>
      </p:sp>
      <p:sp>
        <p:nvSpPr>
          <p:cNvPr id="204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Figure 5-1. SONET Integration of TDM</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cs typeface="Arial" charset="0"/>
                <a:hlinkClick r:id="rId2"/>
              </a:rPr>
              <a:t>[View full size image]</a:t>
            </a:r>
            <a:endParaRPr kumimoji="0" lang="en-US" sz="1800" b="0" i="0" u="none" strike="noStrike" cap="none" normalizeH="0" baseline="0" smtClean="0">
              <a:ln>
                <a:noFill/>
              </a:ln>
              <a:solidFill>
                <a:schemeClr val="tx1"/>
              </a:solidFill>
              <a:effectLst/>
              <a:latin typeface="Arial"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t>
            </a:r>
            <a:r>
              <a:rPr kumimoji="0" lang="en-US" sz="3400" b="0" i="0" u="none" strike="noStrike" cap="none" normalizeH="0" baseline="0" smtClean="0">
                <a:ln>
                  <a:noFill/>
                </a:ln>
                <a:solidFill>
                  <a:schemeClr val="tx1"/>
                </a:solidFill>
                <a:effectLst/>
                <a:latin typeface="Arial" charset="0"/>
                <a:cs typeface="Arial" charset="0"/>
              </a:rPr>
              <a:t> </a:t>
            </a:r>
            <a:endParaRPr kumimoji="0" lang="en-US" sz="1800" b="0" i="0" u="none" strike="noStrike" cap="none" normalizeH="0" baseline="0" smtClean="0">
              <a:ln>
                <a:noFill/>
              </a:ln>
              <a:solidFill>
                <a:schemeClr val="tx1"/>
              </a:solidFill>
              <a:effectLst/>
              <a:latin typeface="Arial"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2050" name="AutoShape 2" descr="graphics/05fig01.gif"/>
          <p:cNvSpPr>
            <a:spLocks noChangeAspect="1" noChangeArrowheads="1"/>
          </p:cNvSpPr>
          <p:nvPr/>
        </p:nvSpPr>
        <p:spPr bwMode="auto">
          <a:xfrm>
            <a:off x="4511675" y="-158750"/>
            <a:ext cx="4762500" cy="552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Grp="1" noChangeAspect="1" noChangeArrowheads="1"/>
          </p:cNvPicPr>
          <p:nvPr>
            <p:ph idx="1"/>
          </p:nvPr>
        </p:nvPicPr>
        <p:blipFill>
          <a:blip r:embed="rId3" cstate="print"/>
          <a:srcRect/>
          <a:stretch>
            <a:fillRect/>
          </a:stretch>
        </p:blipFill>
        <p:spPr bwMode="auto">
          <a:xfrm>
            <a:off x="457200" y="2286000"/>
            <a:ext cx="8229600" cy="205038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r>
              <a:rPr lang="en-US" b="1" dirty="0" smtClean="0"/>
              <a:t>SONET Electrical and Optical Signals</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33400" y="990600"/>
            <a:ext cx="8229600" cy="2819400"/>
          </a:xfrm>
          <a:prstGeom prst="rect">
            <a:avLst/>
          </a:prstGeom>
          <a:noFill/>
          <a:ln w="9525">
            <a:noFill/>
            <a:miter lim="800000"/>
            <a:headEnd/>
            <a:tailEnd/>
          </a:ln>
        </p:spPr>
      </p:pic>
      <p:sp>
        <p:nvSpPr>
          <p:cNvPr id="5" name="Rectangle 4"/>
          <p:cNvSpPr/>
          <p:nvPr/>
        </p:nvSpPr>
        <p:spPr>
          <a:xfrm>
            <a:off x="381000" y="3886200"/>
            <a:ext cx="8382000" cy="1754326"/>
          </a:xfrm>
          <a:prstGeom prst="rect">
            <a:avLst/>
          </a:prstGeom>
        </p:spPr>
        <p:txBody>
          <a:bodyPr wrap="square">
            <a:spAutoFit/>
          </a:bodyPr>
          <a:lstStyle/>
          <a:p>
            <a:r>
              <a:rPr lang="en-US" dirty="0" smtClean="0"/>
              <a:t>The STSX-1 interface rating permits a distance of 450 feet or 137 meters, whereas the STSX-3 interface rating permits a distance of 225 feet or 69 meters between the electrical and optical devices. </a:t>
            </a:r>
          </a:p>
          <a:p>
            <a:r>
              <a:rPr lang="en-US" dirty="0" smtClean="0"/>
              <a:t>The transmitter performs the EO conversion of the STS-N signal and converts the STS-N to an OC-N. </a:t>
            </a:r>
          </a:p>
          <a:p>
            <a:r>
              <a:rPr lang="en-US" dirty="0" smtClean="0"/>
              <a:t>The OC-N signal is scrambled before being launched over the fiber-optic media.</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SONET Synchronization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Five methods are typically used in obtaining synchronous timing in a SONET network:</a:t>
            </a:r>
          </a:p>
          <a:p>
            <a:pPr>
              <a:buNone/>
            </a:pPr>
            <a:endParaRPr lang="en-US" dirty="0" smtClean="0"/>
          </a:p>
          <a:p>
            <a:pPr>
              <a:buFont typeface="Wingdings" pitchFamily="2" charset="2"/>
              <a:buChar char="q"/>
            </a:pPr>
            <a:r>
              <a:rPr lang="en-US" dirty="0" smtClean="0"/>
              <a:t>Internal timing from a free-running onboard internal oscillator (Stratum 3E or Stratum 3 clock).</a:t>
            </a:r>
          </a:p>
          <a:p>
            <a:pPr>
              <a:buFont typeface="Wingdings" pitchFamily="2" charset="2"/>
              <a:buChar char="q"/>
            </a:pPr>
            <a:r>
              <a:rPr lang="en-US" dirty="0" smtClean="0"/>
              <a:t>Line timing derived from a scrambled incoming SONET signal on a high-speed interface.</a:t>
            </a:r>
          </a:p>
          <a:p>
            <a:pPr>
              <a:buFont typeface="Wingdings" pitchFamily="2" charset="2"/>
              <a:buChar char="q"/>
            </a:pPr>
            <a:r>
              <a:rPr lang="en-US" dirty="0" smtClean="0"/>
              <a:t>Through timing derived from signal input, but clocks the signal in a different outbound direction.</a:t>
            </a:r>
          </a:p>
          <a:p>
            <a:pPr>
              <a:buFont typeface="Wingdings" pitchFamily="2" charset="2"/>
              <a:buChar char="q"/>
            </a:pPr>
            <a:r>
              <a:rPr lang="en-US" dirty="0" smtClean="0"/>
              <a:t>Loop timing is similar to line timing, but is used with customer premises equipment (CPE) or terminal multiplexer equipment rather than ADMs.</a:t>
            </a:r>
          </a:p>
          <a:p>
            <a:pPr>
              <a:buFont typeface="Wingdings" pitchFamily="2" charset="2"/>
              <a:buChar char="q"/>
            </a:pPr>
            <a:r>
              <a:rPr lang="en-US" dirty="0" smtClean="0"/>
              <a:t>External timing from an external source such as a Stratum 1 global positioning system (GPS) or atomic clock source.</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10000"/>
          </a:bodyPr>
          <a:lstStyle/>
          <a:p>
            <a:r>
              <a:rPr lang="en-US" dirty="0" smtClean="0"/>
              <a:t>The SONET network is organized with a master-slave relationship with clocks of the higher-level nodes feeding timing signals to clocks of the lower-level nodes. </a:t>
            </a:r>
          </a:p>
          <a:p>
            <a:r>
              <a:rPr lang="en-US" dirty="0" smtClean="0"/>
              <a:t>All nodes can be traced up to a primary reference source, a Stratum 1 GPS or atomic clock with extremely high stability and accuracy. </a:t>
            </a:r>
          </a:p>
          <a:p>
            <a:r>
              <a:rPr lang="en-US" dirty="0" smtClean="0"/>
              <a:t>Lower-stratum or less-stable clocks are adequate to support the lower nodes. The internal clock of a SONET terminal can derive its timing signal from a building-integrated timing supply (BITS) used by switching systems and other equipment. </a:t>
            </a:r>
          </a:p>
          <a:p>
            <a:r>
              <a:rPr lang="en-US" dirty="0" smtClean="0"/>
              <a:t>Thus, this terminal serves as a master for other SONET nodes, providing timing on its outgoing OC–N signal. Other SONET nodes operate in a slave mode called loop timing, with their internal clocks timed by the incoming OC–N signal. Current standards specify that a SONET network must be able to derive its timing from a Stratum 3 or higher clock.</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r>
              <a:rPr lang="en-US" sz="2200" i="1" dirty="0" smtClean="0">
                <a:hlinkClick r:id="rId2" action="ppaction://hlinkfile"/>
              </a:rPr>
              <a:t>Jitter</a:t>
            </a:r>
            <a:r>
              <a:rPr lang="en-US" sz="2200" dirty="0" smtClean="0"/>
              <a:t> is defined as short-term phase variations above 10 Hz. </a:t>
            </a:r>
            <a:r>
              <a:rPr lang="en-US" sz="2200" i="1" dirty="0" smtClean="0">
                <a:hlinkClick r:id="rId3" action="ppaction://hlinkfile"/>
              </a:rPr>
              <a:t>Wander</a:t>
            </a:r>
            <a:r>
              <a:rPr lang="en-US" sz="2200" dirty="0" smtClean="0"/>
              <a:t> is defined as long-term phase variations below 10 Hz. In digital networks, jitter and wander are handled by buffers found in the interfaces within different network devices. One example is a slip buffer. The slip buffer is used to handle frequency differences between read and write operations. To prevent against write operations happening faster than read operations, read operations are handled at a slightly higher rate. On a periodic basis, read operations are paused, while a bit is stuffed into a stream to account for any timing differences between the read and write operations. This bit-stuffing scheme is referred to as a controlled slip (frame). The stratum clocking accuracy timing requirements are also defined in </a:t>
            </a:r>
            <a:r>
              <a:rPr lang="en-US" sz="2200" dirty="0" smtClean="0">
                <a:hlinkClick r:id="rId4" action="ppaction://hlinkfile"/>
              </a:rPr>
              <a:t>Table 5-1</a:t>
            </a:r>
            <a:r>
              <a:rPr lang="en-US" sz="2200" dirty="0" smtClean="0"/>
              <a:t> for wander, bit slips, and controlled slips. </a:t>
            </a:r>
            <a:r>
              <a:rPr lang="en-US" sz="2000" dirty="0" smtClean="0"/>
              <a:t>The timing accuracy requirements increase as the stratum hierarchy increases.</a:t>
            </a:r>
            <a:endParaRPr lang="en-US" sz="2000" dirty="0"/>
          </a:p>
        </p:txBody>
      </p:sp>
      <p:pic>
        <p:nvPicPr>
          <p:cNvPr id="34818" name="Picture 2"/>
          <p:cNvPicPr>
            <a:picLocks noChangeAspect="1" noChangeArrowheads="1"/>
          </p:cNvPicPr>
          <p:nvPr/>
        </p:nvPicPr>
        <p:blipFill>
          <a:blip r:embed="rId5" cstate="print"/>
          <a:srcRect/>
          <a:stretch>
            <a:fillRect/>
          </a:stretch>
        </p:blipFill>
        <p:spPr bwMode="auto">
          <a:xfrm>
            <a:off x="381000" y="4419600"/>
            <a:ext cx="8229600" cy="2219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SONET Layers</a:t>
            </a:r>
            <a:br>
              <a:rPr lang="en-US" b="1" dirty="0" smtClean="0"/>
            </a:br>
            <a:endParaRPr lang="en-US" dirty="0"/>
          </a:p>
        </p:txBody>
      </p:sp>
      <p:pic>
        <p:nvPicPr>
          <p:cNvPr id="1026" name="Picture 2" descr="C:\Documents and Settings\admin\My Documents\My Pictures\untitled.bmp"/>
          <p:cNvPicPr>
            <a:picLocks noGrp="1" noChangeAspect="1" noChangeArrowheads="1"/>
          </p:cNvPicPr>
          <p:nvPr>
            <p:ph idx="1"/>
          </p:nvPr>
        </p:nvPicPr>
        <p:blipFill>
          <a:blip r:embed="rId2" cstate="print"/>
          <a:srcRect/>
          <a:stretch>
            <a:fillRect/>
          </a:stretch>
        </p:blipFill>
        <p:spPr bwMode="auto">
          <a:xfrm>
            <a:off x="609600" y="2514600"/>
            <a:ext cx="8229600" cy="3352800"/>
          </a:xfrm>
          <a:prstGeom prst="rect">
            <a:avLst/>
          </a:prstGeom>
          <a:noFill/>
        </p:spPr>
      </p:pic>
      <p:graphicFrame>
        <p:nvGraphicFramePr>
          <p:cNvPr id="5" name="Table 4"/>
          <p:cNvGraphicFramePr>
            <a:graphicFrameLocks noGrp="1"/>
          </p:cNvGraphicFramePr>
          <p:nvPr/>
        </p:nvGraphicFramePr>
        <p:xfrm>
          <a:off x="533400" y="838200"/>
          <a:ext cx="7467600" cy="1752600"/>
        </p:xfrm>
        <a:graphic>
          <a:graphicData uri="http://schemas.openxmlformats.org/drawingml/2006/table">
            <a:tbl>
              <a:tblPr/>
              <a:tblGrid>
                <a:gridCol w="7467600"/>
              </a:tblGrid>
              <a:tr h="1752600">
                <a:tc>
                  <a:txBody>
                    <a:bodyPr/>
                    <a:lstStyle/>
                    <a:p>
                      <a:r>
                        <a:rPr lang="en-US" b="1" dirty="0"/>
                        <a:t>SONET Layers</a:t>
                      </a:r>
                    </a:p>
                    <a:p>
                      <a:pPr>
                        <a:buFont typeface="Arial"/>
                        <a:buChar char="•"/>
                      </a:pPr>
                      <a:r>
                        <a:rPr lang="en-US" dirty="0" smtClean="0"/>
                        <a:t>Path</a:t>
                      </a:r>
                      <a:endParaRPr lang="en-US" dirty="0"/>
                    </a:p>
                    <a:p>
                      <a:pPr>
                        <a:buFont typeface="Arial"/>
                        <a:buChar char="•"/>
                      </a:pPr>
                      <a:r>
                        <a:rPr lang="en-US" dirty="0"/>
                        <a:t>Line</a:t>
                      </a:r>
                    </a:p>
                    <a:p>
                      <a:pPr>
                        <a:buFont typeface="Arial"/>
                        <a:buChar char="•"/>
                      </a:pPr>
                      <a:r>
                        <a:rPr lang="en-US" dirty="0"/>
                        <a:t>Section</a:t>
                      </a:r>
                    </a:p>
                    <a:p>
                      <a:pPr>
                        <a:buFont typeface="Arial"/>
                        <a:buChar char="•"/>
                      </a:pPr>
                      <a:r>
                        <a:rPr lang="en-US" dirty="0"/>
                        <a:t>Photonic</a:t>
                      </a:r>
                    </a:p>
                  </a:txBody>
                  <a:tcPr marL="0" marR="0" marT="0" marB="0">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Path Layer</a:t>
            </a:r>
            <a:br>
              <a:rPr lang="en-US" b="1" dirty="0" smtClean="0"/>
            </a:br>
            <a:endParaRPr lang="en-US" dirty="0"/>
          </a:p>
        </p:txBody>
      </p:sp>
      <p:sp>
        <p:nvSpPr>
          <p:cNvPr id="3" name="Content Placeholder 2"/>
          <p:cNvSpPr>
            <a:spLocks noGrp="1"/>
          </p:cNvSpPr>
          <p:nvPr>
            <p:ph idx="1"/>
          </p:nvPr>
        </p:nvSpPr>
        <p:spPr>
          <a:xfrm>
            <a:off x="457200" y="914400"/>
            <a:ext cx="8229600" cy="5105399"/>
          </a:xfrm>
        </p:spPr>
        <p:txBody>
          <a:bodyPr>
            <a:normAutofit fontScale="85000" lnSpcReduction="20000"/>
          </a:bodyPr>
          <a:lstStyle/>
          <a:p>
            <a:r>
              <a:rPr lang="en-US" dirty="0" smtClean="0"/>
              <a:t>The path layer deals with the transport of services between the path-terminating equipment (PET) NEs. </a:t>
            </a:r>
          </a:p>
          <a:p>
            <a:r>
              <a:rPr lang="en-US" dirty="0" smtClean="0"/>
              <a:t>The main function of the path layer is to map the signals into a format required by the line layer.</a:t>
            </a:r>
          </a:p>
          <a:p>
            <a:r>
              <a:rPr lang="en-US" dirty="0" smtClean="0"/>
              <a:t> Its functions include reading, interpreting, and modifying the POH for performance and </a:t>
            </a:r>
            <a:r>
              <a:rPr lang="en-US" b="1" dirty="0" smtClean="0"/>
              <a:t>automatic protection switching</a:t>
            </a:r>
            <a:endParaRPr lang="en-US" dirty="0" smtClean="0"/>
          </a:p>
          <a:p>
            <a:pPr>
              <a:buNone/>
            </a:pPr>
            <a:endParaRPr lang="en-US" dirty="0" smtClean="0"/>
          </a:p>
          <a:p>
            <a:r>
              <a:rPr lang="en-US" b="1" dirty="0" smtClean="0"/>
              <a:t>Path-Terminating Equipment (PTE)</a:t>
            </a:r>
          </a:p>
          <a:p>
            <a:pPr>
              <a:buNone/>
            </a:pPr>
            <a:r>
              <a:rPr lang="en-US" dirty="0" smtClean="0"/>
              <a:t>    The STS PTE is an NE that multiplexes or </a:t>
            </a:r>
            <a:r>
              <a:rPr lang="en-US" dirty="0" err="1" smtClean="0"/>
              <a:t>demultiplexes</a:t>
            </a:r>
            <a:r>
              <a:rPr lang="en-US" dirty="0" smtClean="0"/>
              <a:t> the STS payload. As an example, STS-1 PTE assembles 28 ,1.544-Mbps DS1 signals and inserts POH to form a 51.84-Mbps STS-1 signal.</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Line Layer</a:t>
            </a:r>
            <a:br>
              <a:rPr lang="en-US" b="1" dirty="0" smtClean="0"/>
            </a:br>
            <a:endParaRPr lang="en-US" dirty="0"/>
          </a:p>
        </p:txBody>
      </p:sp>
      <p:sp>
        <p:nvSpPr>
          <p:cNvPr id="3" name="Content Placeholder 2"/>
          <p:cNvSpPr>
            <a:spLocks noGrp="1"/>
          </p:cNvSpPr>
          <p:nvPr>
            <p:ph idx="1"/>
          </p:nvPr>
        </p:nvSpPr>
        <p:spPr>
          <a:xfrm>
            <a:off x="457200" y="914400"/>
            <a:ext cx="8229600" cy="5105400"/>
          </a:xfrm>
        </p:spPr>
        <p:txBody>
          <a:bodyPr>
            <a:normAutofit fontScale="85000" lnSpcReduction="10000"/>
          </a:bodyPr>
          <a:lstStyle/>
          <a:p>
            <a:r>
              <a:rPr lang="en-US" dirty="0" smtClean="0"/>
              <a:t>The line layer deals with the transport of the path layer payload and its overhead across the physical medium. </a:t>
            </a:r>
          </a:p>
          <a:p>
            <a:r>
              <a:rPr lang="en-US" dirty="0" smtClean="0"/>
              <a:t>The main function of the line layer is to provide synchronization and to perform multiplexing for the path layer. </a:t>
            </a:r>
          </a:p>
          <a:p>
            <a:r>
              <a:rPr lang="en-US" dirty="0" smtClean="0"/>
              <a:t>Its functions include protection switching, synchronization, multiplexing, line maintenance, and error monitoring.</a:t>
            </a:r>
          </a:p>
          <a:p>
            <a:endParaRPr lang="en-US" dirty="0" smtClean="0"/>
          </a:p>
          <a:p>
            <a:r>
              <a:rPr lang="en-US" b="1" dirty="0" smtClean="0"/>
              <a:t>Line-Terminating Equipment (LTE)</a:t>
            </a:r>
          </a:p>
          <a:p>
            <a:pPr>
              <a:buNone/>
            </a:pPr>
            <a:r>
              <a:rPr lang="en-US" dirty="0" smtClean="0"/>
              <a:t>     The line-terminating equipment (LTE) is the NE that originates or terminates the line signal</a:t>
            </a:r>
          </a:p>
          <a:p>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Section Layer</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The section layer deals with the transport of an STS-N frame across the physical medium. Its main functions are framing, scrambling, error monitoring, and section maintenance.</a:t>
            </a:r>
          </a:p>
          <a:p>
            <a:pPr>
              <a:buNone/>
            </a:pPr>
            <a:r>
              <a:rPr lang="en-US" b="1" dirty="0" smtClean="0"/>
              <a:t>Section-Terminating Equipment (STE)</a:t>
            </a:r>
          </a:p>
          <a:p>
            <a:r>
              <a:rPr lang="en-US" dirty="0" smtClean="0"/>
              <a:t>The section-terminating equipment (STE) is the NE that can acts as a termination device or a regenerator. The element is able to access, modify, originate, or terminate its overhead.</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Photonic Layer</a:t>
            </a:r>
            <a:br>
              <a:rPr lang="en-US" b="1" dirty="0" smtClean="0"/>
            </a:br>
            <a:endParaRPr lang="en-US" dirty="0"/>
          </a:p>
        </p:txBody>
      </p:sp>
      <p:sp>
        <p:nvSpPr>
          <p:cNvPr id="3" name="Content Placeholder 2"/>
          <p:cNvSpPr>
            <a:spLocks noGrp="1"/>
          </p:cNvSpPr>
          <p:nvPr>
            <p:ph idx="1"/>
          </p:nvPr>
        </p:nvSpPr>
        <p:spPr/>
        <p:txBody>
          <a:bodyPr/>
          <a:lstStyle/>
          <a:p>
            <a:r>
              <a:rPr lang="en-US" dirty="0" smtClean="0"/>
              <a:t>The photonic layer mainly deals with the transport of bits across the physical fiber medium.</a:t>
            </a:r>
          </a:p>
          <a:p>
            <a:r>
              <a:rPr lang="en-US" dirty="0" smtClean="0"/>
              <a:t> Its main function is the conversion between STS-N and OC-N signals. </a:t>
            </a:r>
          </a:p>
          <a:p>
            <a:r>
              <a:rPr lang="en-US" dirty="0" smtClean="0"/>
              <a:t>Its functions include wavelength launching, pulse shaping, and modulation of power levels</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a:t>
            </a:r>
            <a:endParaRPr lang="en-US" dirty="0"/>
          </a:p>
        </p:txBody>
      </p:sp>
      <p:graphicFrame>
        <p:nvGraphicFramePr>
          <p:cNvPr id="5" name="Content Placeholder 4"/>
          <p:cNvGraphicFramePr>
            <a:graphicFrameLocks noGrp="1"/>
          </p:cNvGraphicFramePr>
          <p:nvPr>
            <p:ph idx="1"/>
          </p:nvPr>
        </p:nvGraphicFramePr>
        <p:xfrm>
          <a:off x="457200" y="1600200"/>
          <a:ext cx="8229600" cy="3785616"/>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marL="0" marR="0" algn="just">
                        <a:lnSpc>
                          <a:spcPct val="115000"/>
                        </a:lnSpc>
                        <a:spcBef>
                          <a:spcPts val="0"/>
                        </a:spcBef>
                        <a:spcAft>
                          <a:spcPts val="0"/>
                        </a:spcAft>
                      </a:pPr>
                      <a:endParaRPr lang="en-US" sz="2400" dirty="0" smtClean="0">
                        <a:solidFill>
                          <a:srgbClr val="000000"/>
                        </a:solidFill>
                        <a:latin typeface="Arial"/>
                        <a:ea typeface="Times New Roman"/>
                        <a:cs typeface="Times New Roman"/>
                      </a:endParaRPr>
                    </a:p>
                    <a:p>
                      <a:pPr marL="0" marR="0" algn="just">
                        <a:lnSpc>
                          <a:spcPct val="115000"/>
                        </a:lnSpc>
                        <a:spcBef>
                          <a:spcPts val="0"/>
                        </a:spcBef>
                        <a:spcAft>
                          <a:spcPts val="0"/>
                        </a:spcAft>
                      </a:pPr>
                      <a:r>
                        <a:rPr lang="en-US" sz="2400" dirty="0" smtClean="0">
                          <a:solidFill>
                            <a:srgbClr val="000000"/>
                          </a:solidFill>
                          <a:latin typeface="Arial"/>
                          <a:ea typeface="Times New Roman"/>
                          <a:cs typeface="Times New Roman"/>
                        </a:rPr>
                        <a:t>                Europe</a:t>
                      </a:r>
                    </a:p>
                    <a:p>
                      <a:pPr marL="0" marR="0" algn="just">
                        <a:lnSpc>
                          <a:spcPct val="115000"/>
                        </a:lnSpc>
                        <a:spcBef>
                          <a:spcPts val="0"/>
                        </a:spcBef>
                        <a:spcAft>
                          <a:spcPts val="0"/>
                        </a:spcAft>
                      </a:pPr>
                      <a:endParaRPr lang="en-US" sz="2400" dirty="0">
                        <a:latin typeface="Calibri"/>
                        <a:ea typeface="Calibri"/>
                        <a:cs typeface="Times New Roman"/>
                      </a:endParaRPr>
                    </a:p>
                  </a:txBody>
                  <a:tcPr marL="68580" marR="68580" marT="0" marB="0" anchor="b"/>
                </a:tc>
                <a:tc>
                  <a:txBody>
                    <a:bodyPr/>
                    <a:lstStyle/>
                    <a:p>
                      <a:pPr marL="0" marR="0" algn="just">
                        <a:lnSpc>
                          <a:spcPct val="115000"/>
                        </a:lnSpc>
                        <a:spcBef>
                          <a:spcPts val="0"/>
                        </a:spcBef>
                        <a:spcAft>
                          <a:spcPts val="0"/>
                        </a:spcAft>
                      </a:pPr>
                      <a:r>
                        <a:rPr lang="en-US" sz="2400" dirty="0">
                          <a:solidFill>
                            <a:srgbClr val="000000"/>
                          </a:solidFill>
                          <a:latin typeface="Arial"/>
                          <a:ea typeface="Times New Roman"/>
                          <a:cs typeface="Times New Roman"/>
                        </a:rPr>
                        <a:t>North America</a:t>
                      </a:r>
                      <a:endParaRPr lang="en-US" sz="2400" dirty="0">
                        <a:latin typeface="Calibri"/>
                        <a:ea typeface="Calibri"/>
                        <a:cs typeface="Times New Roman"/>
                      </a:endParaRPr>
                    </a:p>
                  </a:txBody>
                  <a:tcPr marL="68580" marR="68580" marT="0" marB="0" anchor="b"/>
                </a:tc>
              </a:tr>
              <a:tr h="370840">
                <a:tc>
                  <a:txBody>
                    <a:bodyPr/>
                    <a:lstStyle/>
                    <a:p>
                      <a:pPr marL="0" marR="0" algn="ctr">
                        <a:lnSpc>
                          <a:spcPct val="115000"/>
                        </a:lnSpc>
                        <a:spcBef>
                          <a:spcPts val="0"/>
                        </a:spcBef>
                        <a:spcAft>
                          <a:spcPts val="0"/>
                        </a:spcAft>
                      </a:pPr>
                      <a:r>
                        <a:rPr lang="en-US" sz="2400" dirty="0" smtClean="0">
                          <a:solidFill>
                            <a:srgbClr val="000000"/>
                          </a:solidFill>
                          <a:latin typeface="Arial"/>
                          <a:ea typeface="Times New Roman"/>
                          <a:cs typeface="Times New Roman"/>
                        </a:rPr>
                        <a:t>0.064</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0.064 (DS0)</a:t>
                      </a:r>
                      <a:endParaRPr lang="en-US" sz="2400" dirty="0">
                        <a:latin typeface="Calibri"/>
                        <a:ea typeface="Calibri"/>
                        <a:cs typeface="Times New Roman"/>
                      </a:endParaRPr>
                    </a:p>
                  </a:txBody>
                  <a:tcPr marL="68580" marR="68580" marT="0" marB="0" anchor="b"/>
                </a:tc>
              </a:tr>
              <a:tr h="370840">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2.048 (E1)</a:t>
                      </a:r>
                      <a:endParaRPr lang="en-US" sz="24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400">
                          <a:solidFill>
                            <a:srgbClr val="000000"/>
                          </a:solidFill>
                          <a:latin typeface="Arial"/>
                          <a:ea typeface="Times New Roman"/>
                          <a:cs typeface="Times New Roman"/>
                        </a:rPr>
                        <a:t>1.544 (DS1)</a:t>
                      </a:r>
                      <a:endParaRPr lang="en-US" sz="2400">
                        <a:latin typeface="Calibri"/>
                        <a:ea typeface="Calibri"/>
                        <a:cs typeface="Times New Roman"/>
                      </a:endParaRPr>
                    </a:p>
                  </a:txBody>
                  <a:tcPr marL="68580" marR="68580" marT="0" marB="0" anchor="b"/>
                </a:tc>
              </a:tr>
              <a:tr h="370840">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8.448 (E2)</a:t>
                      </a:r>
                      <a:endParaRPr lang="en-US" sz="24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6.312 (DS2)</a:t>
                      </a:r>
                      <a:endParaRPr lang="en-US" sz="2400" dirty="0">
                        <a:latin typeface="Calibri"/>
                        <a:ea typeface="Calibri"/>
                        <a:cs typeface="Times New Roman"/>
                      </a:endParaRPr>
                    </a:p>
                  </a:txBody>
                  <a:tcPr marL="68580" marR="68580" marT="0" marB="0" anchor="b"/>
                </a:tc>
              </a:tr>
              <a:tr h="370840">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34.368 (E3)</a:t>
                      </a:r>
                      <a:endParaRPr lang="en-US" sz="24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44.736 (DS3)</a:t>
                      </a:r>
                      <a:endParaRPr lang="en-US" sz="2400" dirty="0">
                        <a:latin typeface="Calibri"/>
                        <a:ea typeface="Calibri"/>
                        <a:cs typeface="Times New Roman"/>
                      </a:endParaRPr>
                    </a:p>
                  </a:txBody>
                  <a:tcPr marL="68580" marR="68580" marT="0" marB="0" anchor="b"/>
                </a:tc>
              </a:tr>
              <a:tr h="370840">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139.264 (E4)</a:t>
                      </a:r>
                      <a:endParaRPr lang="en-US" sz="24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400" dirty="0">
                          <a:solidFill>
                            <a:srgbClr val="000000"/>
                          </a:solidFill>
                          <a:latin typeface="Arial"/>
                          <a:ea typeface="Times New Roman"/>
                          <a:cs typeface="Times New Roman"/>
                        </a:rPr>
                        <a:t>139.264 (DS4)</a:t>
                      </a:r>
                      <a:endParaRPr lang="en-US" sz="2400" dirty="0">
                        <a:latin typeface="Calibri"/>
                        <a:ea typeface="Calibri"/>
                        <a:cs typeface="Times New Roman"/>
                      </a:endParaRPr>
                    </a:p>
                  </a:txBody>
                  <a:tcPr marL="68580" marR="68580" marT="0" marB="0" anchor="b"/>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SONET FRAME FORMAT</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703655" y="1600200"/>
            <a:ext cx="7736689"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457200" y="1600200"/>
            <a:ext cx="8229600" cy="1754326"/>
          </a:xfrm>
          <a:prstGeom prst="rect">
            <a:avLst/>
          </a:prstGeom>
        </p:spPr>
        <p:txBody>
          <a:bodyPr wrap="square">
            <a:spAutoFit/>
          </a:bodyPr>
          <a:lstStyle/>
          <a:p>
            <a:r>
              <a:rPr lang="en-US" dirty="0" smtClean="0"/>
              <a:t>The SONET STS-1 frame has an actual line rate of 51.84 Mbps that can be computed as follows:</a:t>
            </a:r>
            <a:br>
              <a:rPr lang="en-US" dirty="0" smtClean="0"/>
            </a:br>
            <a:r>
              <a:rPr lang="en-US" dirty="0" smtClean="0"/>
              <a:t>Line rate = 90 columns * 9 rows * 8 bits/byte * 8000 Frames/sec = 51.84 Mbps</a:t>
            </a:r>
            <a:br>
              <a:rPr lang="en-US" dirty="0" smtClean="0"/>
            </a:br>
            <a:r>
              <a:rPr lang="en-US" dirty="0" smtClean="0"/>
              <a:t>Columns 4 to 90 constitute the SPE that provides an actual data rate of 50.112 Mbps. </a:t>
            </a:r>
          </a:p>
          <a:p>
            <a:r>
              <a:rPr lang="en-US" dirty="0" smtClean="0"/>
              <a:t>The actual data rate of the SPE can be computed as follows:</a:t>
            </a:r>
            <a:br>
              <a:rPr lang="en-US" dirty="0" smtClean="0"/>
            </a:br>
            <a:r>
              <a:rPr lang="en-US" dirty="0" smtClean="0"/>
              <a:t>Data Rate = 87 columns * 9 rows * 8 bits/byte * 8000 frames/sec= 50.112 Mbps</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SONET LINE RATES</a:t>
            </a:r>
            <a:endParaRPr lang="en-US" dirty="0"/>
          </a:p>
        </p:txBody>
      </p:sp>
      <p:pic>
        <p:nvPicPr>
          <p:cNvPr id="33794" name="Picture 2"/>
          <p:cNvPicPr>
            <a:picLocks noGrp="1" noChangeAspect="1" noChangeArrowheads="1"/>
          </p:cNvPicPr>
          <p:nvPr>
            <p:ph idx="1"/>
          </p:nvPr>
        </p:nvPicPr>
        <p:blipFill>
          <a:blip r:embed="rId2" cstate="print"/>
          <a:srcRect/>
          <a:stretch>
            <a:fillRect/>
          </a:stretch>
        </p:blipFill>
        <p:spPr bwMode="auto">
          <a:xfrm>
            <a:off x="0" y="1524000"/>
            <a:ext cx="91440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52400" y="1524000"/>
            <a:ext cx="8305800"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Autofit/>
          </a:bodyPr>
          <a:lstStyle/>
          <a:p>
            <a:pPr algn="l"/>
            <a:r>
              <a:rPr lang="en-US" sz="2400" dirty="0" smtClean="0"/>
              <a:t>STS-3 OC-3 line rate = 2430 bytes/frame * 8000 frames/sec * 8 bits/byte = 155.52 Mbps</a:t>
            </a:r>
            <a:br>
              <a:rPr lang="en-US" sz="2400" dirty="0" smtClean="0"/>
            </a:br>
            <a:r>
              <a:rPr lang="en-US" sz="2400" dirty="0" smtClean="0"/>
              <a:t>90*9*8*8000=155.52 Mbps</a:t>
            </a:r>
            <a:br>
              <a:rPr lang="en-US" sz="2400" dirty="0" smtClean="0"/>
            </a:br>
            <a:endParaRPr lang="en-US" sz="2400"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0" y="1447800"/>
            <a:ext cx="9144000" cy="5410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smtClean="0">
                <a:solidFill>
                  <a:srgbClr val="C44D2D"/>
                </a:solidFill>
                <a:latin typeface="Arial"/>
              </a:rPr>
              <a:t>Path overhead </a:t>
            </a:r>
            <a:endParaRPr lang="en-US" dirty="0"/>
          </a:p>
        </p:txBody>
      </p:sp>
      <p:sp>
        <p:nvSpPr>
          <p:cNvPr id="2560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6" name="Content Placeholder 5"/>
          <p:cNvSpPr>
            <a:spLocks noGrp="1"/>
          </p:cNvSpPr>
          <p:nvPr>
            <p:ph idx="1"/>
          </p:nvPr>
        </p:nvSpPr>
        <p:spPr/>
        <p:txBody>
          <a:bodyPr>
            <a:normAutofit fontScale="92500" lnSpcReduction="10000"/>
          </a:bodyPr>
          <a:lstStyle/>
          <a:p>
            <a:pPr fontAlgn="ctr">
              <a:buNone/>
            </a:pPr>
            <a:r>
              <a:rPr lang="en-US" dirty="0" smtClean="0"/>
              <a:t>    Out </a:t>
            </a:r>
            <a:r>
              <a:rPr lang="en-US" dirty="0"/>
              <a:t>of the 783 bytes of payload, which occupy 87 columns, only 756 bytes in 84 columns actually carry payload capacity of STS-1. The first column, consisting of 9 bytes, is known as </a:t>
            </a:r>
            <a:r>
              <a:rPr lang="en-US" b="1" dirty="0"/>
              <a:t>Path overhead (POH) </a:t>
            </a:r>
            <a:r>
              <a:rPr lang="en-US" dirty="0" smtClean="0"/>
              <a:t>. </a:t>
            </a:r>
          </a:p>
          <a:p>
            <a:pPr fontAlgn="ctr">
              <a:buNone/>
            </a:pPr>
            <a:r>
              <a:rPr lang="en-US" dirty="0" smtClean="0"/>
              <a:t>   </a:t>
            </a:r>
            <a:r>
              <a:rPr lang="en-US" dirty="0"/>
              <a:t>POH is transported point to point with the payload till the latter is </a:t>
            </a:r>
            <a:r>
              <a:rPr lang="en-US" dirty="0" err="1"/>
              <a:t>demultiplexed</a:t>
            </a:r>
            <a:r>
              <a:rPr lang="en-US" dirty="0"/>
              <a:t>. It carries service provider information and monitors end-to-end transport of the payload. Columns 30 and 59 are not used for payload.</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Transport </a:t>
            </a:r>
            <a:r>
              <a:rPr lang="en-US" b="1" dirty="0" smtClean="0"/>
              <a:t>overhead</a:t>
            </a:r>
            <a:r>
              <a:rPr lang="en-US" b="1" dirty="0"/>
              <a:t> </a:t>
            </a:r>
            <a:endParaRPr lang="en-US" dirty="0"/>
          </a:p>
        </p:txBody>
      </p:sp>
      <p:sp>
        <p:nvSpPr>
          <p:cNvPr id="3" name="Content Placeholder 2"/>
          <p:cNvSpPr>
            <a:spLocks noGrp="1"/>
          </p:cNvSpPr>
          <p:nvPr>
            <p:ph idx="1"/>
          </p:nvPr>
        </p:nvSpPr>
        <p:spPr>
          <a:xfrm>
            <a:off x="457200" y="838200"/>
            <a:ext cx="8229600" cy="5715000"/>
          </a:xfrm>
        </p:spPr>
        <p:txBody>
          <a:bodyPr>
            <a:normAutofit fontScale="85000" lnSpcReduction="20000"/>
          </a:bodyPr>
          <a:lstStyle/>
          <a:p>
            <a:r>
              <a:rPr lang="en-US" dirty="0"/>
              <a:t>Out of the 27 transport overheads, 9 bytes are </a:t>
            </a:r>
            <a:r>
              <a:rPr lang="en-US" b="1" dirty="0"/>
              <a:t>section overhead </a:t>
            </a:r>
            <a:r>
              <a:rPr lang="en-US" dirty="0"/>
              <a:t>and the remaining 18 bytes are </a:t>
            </a:r>
            <a:r>
              <a:rPr lang="en-US" b="1" dirty="0"/>
              <a:t>line overhead </a:t>
            </a:r>
            <a:r>
              <a:rPr lang="en-US" dirty="0"/>
              <a:t>. </a:t>
            </a:r>
            <a:r>
              <a:rPr lang="en-US" dirty="0" smtClean="0"/>
              <a:t>Transport </a:t>
            </a:r>
            <a:r>
              <a:rPr lang="en-US" dirty="0"/>
              <a:t>overhead provides transport information. </a:t>
            </a:r>
            <a:endParaRPr lang="en-US" dirty="0" smtClean="0"/>
          </a:p>
          <a:p>
            <a:r>
              <a:rPr lang="en-US" dirty="0" smtClean="0"/>
              <a:t>The </a:t>
            </a:r>
            <a:r>
              <a:rPr lang="en-US" dirty="0"/>
              <a:t>section overhead contains information required for communicating between successive network elements in the network, such as, </a:t>
            </a:r>
            <a:r>
              <a:rPr lang="en-US" dirty="0" err="1" smtClean="0"/>
              <a:t>repeaters.It</a:t>
            </a:r>
            <a:r>
              <a:rPr lang="en-US" dirty="0" smtClean="0"/>
              <a:t> </a:t>
            </a:r>
            <a:r>
              <a:rPr lang="en-US" dirty="0"/>
              <a:t>also provides a voice communication channel for maintenance personnel</a:t>
            </a:r>
            <a:r>
              <a:rPr lang="en-US" dirty="0" smtClean="0"/>
              <a:t>.</a:t>
            </a:r>
            <a:r>
              <a:rPr lang="en-US" dirty="0"/>
              <a:t> </a:t>
            </a:r>
            <a:br>
              <a:rPr lang="en-US" dirty="0"/>
            </a:br>
            <a:r>
              <a:rPr lang="en-US" dirty="0"/>
              <a:t>The line overhead contains information to monitor line performance. This overhead provides for the following functions</a:t>
            </a:r>
            <a:r>
              <a:rPr lang="en-US" dirty="0" smtClean="0"/>
              <a:t>:</a:t>
            </a:r>
          </a:p>
          <a:p>
            <a:r>
              <a:rPr lang="en-US" dirty="0" smtClean="0"/>
              <a:t>line </a:t>
            </a:r>
            <a:r>
              <a:rPr lang="en-US" dirty="0"/>
              <a:t>performance monitoring and line maintenance</a:t>
            </a:r>
          </a:p>
          <a:p>
            <a:r>
              <a:rPr lang="en-US" dirty="0"/>
              <a:t>automatic protection switching</a:t>
            </a:r>
          </a:p>
          <a:p>
            <a:r>
              <a:rPr lang="en-US" dirty="0"/>
              <a:t>multiplexing signals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Overhead</a:t>
            </a:r>
            <a:endParaRPr lang="en-US" dirty="0"/>
          </a:p>
        </p:txBody>
      </p:sp>
      <p:sp>
        <p:nvSpPr>
          <p:cNvPr id="3" name="Content Placeholder 2"/>
          <p:cNvSpPr>
            <a:spLocks noGrp="1"/>
          </p:cNvSpPr>
          <p:nvPr>
            <p:ph idx="1"/>
          </p:nvPr>
        </p:nvSpPr>
        <p:spPr/>
        <p:txBody>
          <a:bodyPr/>
          <a:lstStyle/>
          <a:p>
            <a:r>
              <a:rPr lang="en-US" dirty="0" smtClean="0"/>
              <a:t>The section overhead (SOH) of the SONET STS-1 frame consists of 9 bytes found in the first 3 rows of columns 1, 2, and 3 of the SONET frame. The SOH is responsible for performance monitoring of the STS-N signal, carrying local </a:t>
            </a:r>
            <a:r>
              <a:rPr lang="en-US" dirty="0" err="1" smtClean="0"/>
              <a:t>orderwire</a:t>
            </a:r>
            <a:r>
              <a:rPr lang="en-US" dirty="0" smtClean="0"/>
              <a:t> communications, carrying OAM&amp;P information over the </a:t>
            </a:r>
            <a:r>
              <a:rPr lang="en-US" dirty="0" smtClean="0"/>
              <a:t>Data Communication Channels</a:t>
            </a:r>
            <a:r>
              <a:rPr lang="en-US" dirty="0" smtClean="0"/>
              <a:t>, and for framing.</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Line Overhead</a:t>
            </a:r>
            <a:br>
              <a:rPr lang="en-US" dirty="0" smtClean="0"/>
            </a:b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r>
              <a:rPr lang="en-US" dirty="0" smtClean="0"/>
              <a:t>The line overhead (LOH) of the SONET STS-1 frame consists of 18 bytes found in rows 4 to 9 of columns 1, 2, and 3 of the SONET frame. The LOH is processed by all SONET NEs except for regenerators or repeaters. </a:t>
            </a:r>
          </a:p>
          <a:p>
            <a:r>
              <a:rPr lang="en-US" dirty="0" smtClean="0"/>
              <a:t>The LOH is responsible for performance monitoring of the individual STS-1s, carrying express </a:t>
            </a:r>
            <a:r>
              <a:rPr lang="en-US" dirty="0" err="1" smtClean="0"/>
              <a:t>orderwire</a:t>
            </a:r>
            <a:r>
              <a:rPr lang="en-US" dirty="0" smtClean="0"/>
              <a:t> communications information, data channels for OAM&amp;P, pointers to indicate the start of the SPE, protection switching information, a line alarm indication signal (AIS), and line far-end receive failure (FERF) indication.</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TOH</a:t>
            </a:r>
            <a:endParaRPr lang="en-US"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228600" y="1447800"/>
            <a:ext cx="89154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SOH</a:t>
            </a:r>
            <a:endParaRPr 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1143000" y="1600200"/>
            <a:ext cx="68580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LOH</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0" y="1447800"/>
            <a:ext cx="9144000" cy="541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POH</a:t>
            </a:r>
            <a:endParaRPr 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3528058" y="1600200"/>
            <a:ext cx="2087883"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smtClean="0"/>
              <a:t>SONET Alarms</a:t>
            </a:r>
            <a:endParaRPr lang="en-US" b="1" dirty="0"/>
          </a:p>
        </p:txBody>
      </p:sp>
      <p:sp>
        <p:nvSpPr>
          <p:cNvPr id="3" name="Content Placeholder 2"/>
          <p:cNvSpPr>
            <a:spLocks noGrp="1"/>
          </p:cNvSpPr>
          <p:nvPr>
            <p:ph idx="1"/>
          </p:nvPr>
        </p:nvSpPr>
        <p:spPr>
          <a:xfrm>
            <a:off x="457200" y="1143000"/>
            <a:ext cx="8229600" cy="4983163"/>
          </a:xfrm>
        </p:spPr>
        <p:txBody>
          <a:bodyPr>
            <a:normAutofit fontScale="55000" lnSpcReduction="20000"/>
          </a:bodyPr>
          <a:lstStyle/>
          <a:p>
            <a:r>
              <a:rPr lang="en-US" b="1" dirty="0" smtClean="0"/>
              <a:t>Loss-of-Signal (LOS) Alarm</a:t>
            </a:r>
          </a:p>
          <a:p>
            <a:pPr>
              <a:buFont typeface="Wingdings" pitchFamily="2" charset="2"/>
              <a:buChar char="q"/>
            </a:pPr>
            <a:r>
              <a:rPr lang="en-US" dirty="0" smtClean="0"/>
              <a:t>The loss-of-signal (LOS) alarm is raised when the synchronous signal (STS-STS-N) level drops below the threshold at which a bit error rate (BER) of 1 in 10</a:t>
            </a:r>
            <a:r>
              <a:rPr lang="en-US" baseline="30000" dirty="0" smtClean="0"/>
              <a:t>3</a:t>
            </a:r>
            <a:r>
              <a:rPr lang="en-US" dirty="0" smtClean="0"/>
              <a:t> is predicted. </a:t>
            </a:r>
          </a:p>
          <a:p>
            <a:pPr>
              <a:buFont typeface="Wingdings" pitchFamily="2" charset="2"/>
              <a:buChar char="q"/>
            </a:pPr>
            <a:r>
              <a:rPr lang="en-US" dirty="0" smtClean="0"/>
              <a:t>This can be the result of excessive attenuation of the signal, receiver saturation, cable cut, or equipment fault. </a:t>
            </a:r>
          </a:p>
          <a:p>
            <a:pPr>
              <a:buFont typeface="Wingdings" pitchFamily="2" charset="2"/>
              <a:buChar char="q"/>
            </a:pPr>
            <a:r>
              <a:rPr lang="en-US" dirty="0" smtClean="0"/>
              <a:t>The LOS state clears when two consecutive framing patterns are received and no new LOS condition is detected. The LOS alarm condition is configurable in certain SONET NEs.</a:t>
            </a:r>
          </a:p>
          <a:p>
            <a:r>
              <a:rPr lang="en-US" b="1" dirty="0" smtClean="0"/>
              <a:t>Out-of-Frame (OOF) Alignment</a:t>
            </a:r>
          </a:p>
          <a:p>
            <a:pPr>
              <a:buFont typeface="Wingdings" pitchFamily="2" charset="2"/>
              <a:buChar char="q"/>
            </a:pPr>
            <a:r>
              <a:rPr lang="en-US" dirty="0" smtClean="0"/>
              <a:t>The OOF state occurs when four or five consecutive SONET frames are received with invalid (</a:t>
            </a:r>
            <a:r>
              <a:rPr lang="en-US" dirty="0" err="1" smtClean="0"/>
              <a:t>errored</a:t>
            </a:r>
            <a:r>
              <a:rPr lang="en-US" dirty="0" smtClean="0"/>
              <a:t>) framing patterns (A1 and A2 bytes). </a:t>
            </a:r>
          </a:p>
          <a:p>
            <a:pPr>
              <a:buFont typeface="Wingdings" pitchFamily="2" charset="2"/>
              <a:buChar char="q"/>
            </a:pPr>
            <a:r>
              <a:rPr lang="en-US" dirty="0" smtClean="0"/>
              <a:t>The maximum time to detect OOF is 625 microseconds. OOF state clears when two consecutive SONET frames are received with valid framing patterns.</a:t>
            </a:r>
          </a:p>
          <a:p>
            <a:r>
              <a:rPr lang="en-US" b="1" dirty="0" smtClean="0"/>
              <a:t>Loss-of-Frame (LOF) Alignment</a:t>
            </a:r>
          </a:p>
          <a:p>
            <a:pPr>
              <a:buFont typeface="Wingdings" pitchFamily="2" charset="2"/>
              <a:buChar char="q"/>
            </a:pPr>
            <a:r>
              <a:rPr lang="en-US" dirty="0" smtClean="0"/>
              <a:t>The LOF state occurs when the OOF state exists for a specified time in milliseconds. LOF state clears when an in-frame condition exists continuously for a specified time in milliseconds.</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47500" lnSpcReduction="20000"/>
          </a:bodyPr>
          <a:lstStyle/>
          <a:p>
            <a:r>
              <a:rPr lang="en-US" sz="4500" b="1" dirty="0" smtClean="0"/>
              <a:t>Loss-of-Pointer (LOP)</a:t>
            </a:r>
          </a:p>
          <a:p>
            <a:pPr>
              <a:buFont typeface="Wingdings" pitchFamily="2" charset="2"/>
              <a:buChar char="q"/>
            </a:pPr>
            <a:r>
              <a:rPr lang="en-US" sz="4200" dirty="0" smtClean="0"/>
              <a:t>The LOP state occurs when N consecutive invalid pointers are received or N consecutive new data flags (NDFs) are received (other than in a concatenation indicator), where N = 8, 9, or 10.</a:t>
            </a:r>
          </a:p>
          <a:p>
            <a:pPr>
              <a:buFont typeface="Wingdings" pitchFamily="2" charset="2"/>
              <a:buChar char="q"/>
            </a:pPr>
            <a:r>
              <a:rPr lang="en-US" sz="4200" dirty="0" smtClean="0"/>
              <a:t>LOP state clears when three equal valid pointers or three consecutive AIS indications are received. The LOP can also be identified as the STS path loss of pointer (SP-LOP) or VT path loss of pointer (VP-LOP).</a:t>
            </a:r>
          </a:p>
          <a:p>
            <a:r>
              <a:rPr lang="en-US" sz="4200" b="1" dirty="0" smtClean="0"/>
              <a:t>Alarm Indication Signal (AIS)</a:t>
            </a:r>
          </a:p>
          <a:p>
            <a:pPr>
              <a:buFont typeface="Wingdings" pitchFamily="2" charset="2"/>
              <a:buChar char="q"/>
            </a:pPr>
            <a:r>
              <a:rPr lang="en-US" sz="4200" dirty="0" smtClean="0"/>
              <a:t>The AIS is an all-1s characteristic or adapted information signal. It is generated to replace the normal traffic signal when that signal contains a defect condition to prevent consequential downstream failures being declared or alarms being raised. </a:t>
            </a:r>
          </a:p>
          <a:p>
            <a:pPr>
              <a:buFont typeface="Wingdings" pitchFamily="2" charset="2"/>
              <a:buChar char="q"/>
            </a:pPr>
            <a:r>
              <a:rPr lang="en-US" sz="4200" dirty="0" smtClean="0"/>
              <a:t>The AIS can be identified as the line alarm indication signal (AIS-L), STS path alarm indication signal (SP-AIS), or the VT path alarm indication signal (VP-AIS).</a:t>
            </a:r>
          </a:p>
          <a:p>
            <a:r>
              <a:rPr lang="en-US" sz="4200" b="1" dirty="0" smtClean="0"/>
              <a:t>Remote Error Indication (REI)</a:t>
            </a:r>
          </a:p>
          <a:p>
            <a:pPr>
              <a:buFont typeface="Wingdings" pitchFamily="2" charset="2"/>
              <a:buChar char="q"/>
            </a:pPr>
            <a:r>
              <a:rPr lang="en-US" sz="4200" dirty="0" smtClean="0"/>
              <a:t>The REI is an indication returned to a transmitting node (source) that an </a:t>
            </a:r>
            <a:r>
              <a:rPr lang="en-US" sz="4200" dirty="0" err="1" smtClean="0"/>
              <a:t>errored</a:t>
            </a:r>
            <a:r>
              <a:rPr lang="en-US" sz="4200" dirty="0" smtClean="0"/>
              <a:t> block has been detected at the receiving node (sink). </a:t>
            </a:r>
          </a:p>
          <a:p>
            <a:pPr>
              <a:buFont typeface="Wingdings" pitchFamily="2" charset="2"/>
              <a:buChar char="q"/>
            </a:pPr>
            <a:r>
              <a:rPr lang="en-US" sz="4200" dirty="0" smtClean="0"/>
              <a:t>This indication was formerly known as FEBE</a:t>
            </a:r>
            <a:r>
              <a:rPr lang="en-US" sz="2400" b="1" dirty="0" smtClean="0"/>
              <a:t>(far-end block error)</a:t>
            </a:r>
            <a:r>
              <a:rPr lang="en-US" sz="4200" dirty="0" smtClean="0"/>
              <a:t>. The REI can also be identified as the line remote error indication (REI-L), STS path remote error indication (REI-P), or the VT path remote error indication (REI-V).</a:t>
            </a:r>
            <a:endParaRPr lang="en-US" sz="42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7500" lnSpcReduction="20000"/>
          </a:bodyPr>
          <a:lstStyle/>
          <a:p>
            <a:r>
              <a:rPr lang="en-US" b="1" dirty="0" smtClean="0"/>
              <a:t>Remote Defect Indication (RDI)</a:t>
            </a:r>
          </a:p>
          <a:p>
            <a:pPr>
              <a:buFont typeface="Wingdings" pitchFamily="2" charset="2"/>
              <a:buChar char="q"/>
            </a:pPr>
            <a:r>
              <a:rPr lang="en-US" dirty="0" smtClean="0"/>
              <a:t>The RDI is a signal returned to the transmitting terminating equipment on detection of a LOS, LOF, or AIS defect. </a:t>
            </a:r>
          </a:p>
          <a:p>
            <a:pPr>
              <a:buFont typeface="Wingdings" pitchFamily="2" charset="2"/>
              <a:buChar char="q"/>
            </a:pPr>
            <a:r>
              <a:rPr lang="en-US" dirty="0" smtClean="0"/>
              <a:t>RDI was previously known as FERF</a:t>
            </a:r>
            <a:r>
              <a:rPr lang="en-US" b="1" dirty="0" smtClean="0"/>
              <a:t>(far-end receive failure)</a:t>
            </a:r>
            <a:r>
              <a:rPr lang="en-US" dirty="0" smtClean="0"/>
              <a:t>. The RDI can also be identified as the line remote defect indication (RDI-L), STS path remote defect indication (RDI-P), or VT path remote defect indication (RDI-V).</a:t>
            </a:r>
          </a:p>
          <a:p>
            <a:r>
              <a:rPr lang="en-US" b="1" dirty="0" smtClean="0"/>
              <a:t>Remote Failure Indication (RFI)</a:t>
            </a:r>
          </a:p>
          <a:p>
            <a:pPr>
              <a:buFont typeface="Wingdings" pitchFamily="2" charset="2"/>
              <a:buChar char="q"/>
            </a:pPr>
            <a:r>
              <a:rPr lang="en-US" dirty="0" smtClean="0"/>
              <a:t>A failure is a defect that persists beyond the maximum time allocated to the transmission system protection mechanisms.</a:t>
            </a:r>
          </a:p>
          <a:p>
            <a:pPr>
              <a:buFont typeface="Wingdings" pitchFamily="2" charset="2"/>
              <a:buChar char="q"/>
            </a:pPr>
            <a:r>
              <a:rPr lang="en-US" dirty="0" smtClean="0"/>
              <a:t> When this situation occurs, an RFI is sent to the far end and initiates a protection switch if this function has been enabled. The RFI can be identified as the line remote failure indication (RFI-L), STS path remote failure indication (RFI-P), or the VT path remote failure indication (RFI-V).</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a:bodyPr>
          <a:lstStyle/>
          <a:p>
            <a:endParaRPr lang="en-US" sz="1800" b="1" dirty="0" smtClean="0"/>
          </a:p>
          <a:p>
            <a:r>
              <a:rPr lang="en-US" sz="1800" b="1" dirty="0" smtClean="0"/>
              <a:t>B1 Error</a:t>
            </a:r>
          </a:p>
          <a:p>
            <a:pPr>
              <a:buFont typeface="Wingdings" pitchFamily="2" charset="2"/>
              <a:buChar char="q"/>
            </a:pPr>
            <a:r>
              <a:rPr lang="en-US" sz="1800" dirty="0" smtClean="0"/>
              <a:t>Parity errors evaluated by byte B1 (BIP-8(</a:t>
            </a:r>
            <a:r>
              <a:rPr lang="en-US" sz="1800" b="1" dirty="0" smtClean="0"/>
              <a:t>bit-interleaved parity</a:t>
            </a:r>
            <a:r>
              <a:rPr lang="en-US" sz="1800" dirty="0" smtClean="0"/>
              <a:t>)) of an STS-N are monitored. If any of the eight parity checks fail, the corresponding block is assumed to be in error.</a:t>
            </a:r>
          </a:p>
          <a:p>
            <a:r>
              <a:rPr lang="en-US" sz="1800" b="1" dirty="0" smtClean="0"/>
              <a:t>B2 Error</a:t>
            </a:r>
          </a:p>
          <a:p>
            <a:pPr>
              <a:buFont typeface="Wingdings" pitchFamily="2" charset="2"/>
              <a:buChar char="q"/>
            </a:pPr>
            <a:r>
              <a:rPr lang="en-US" sz="1800" dirty="0" smtClean="0"/>
              <a:t>Parity errors evaluated by byte B2 (BIP-24 * N) of an STS-N are monitored. If any of the N * 24 parity checks fail, the corresponding block is assumed to be in error.</a:t>
            </a:r>
          </a:p>
          <a:p>
            <a:r>
              <a:rPr lang="en-US" sz="1800" b="1" dirty="0" smtClean="0"/>
              <a:t>B3 Error</a:t>
            </a:r>
          </a:p>
          <a:p>
            <a:pPr>
              <a:buFont typeface="Wingdings" pitchFamily="2" charset="2"/>
              <a:buChar char="q"/>
            </a:pPr>
            <a:r>
              <a:rPr lang="en-US" sz="1800" dirty="0" smtClean="0"/>
              <a:t>Parity errors evaluated by byte B3 (BIP-8) of a VT-N (N = 3, 4) are monitored. If any of the eight parity checks fail, the corresponding block is assumed to be in error.</a:t>
            </a:r>
          </a:p>
          <a:p>
            <a:r>
              <a:rPr lang="en-US" sz="1800" b="1" dirty="0" smtClean="0"/>
              <a:t>BIP-2 Error</a:t>
            </a:r>
          </a:p>
          <a:p>
            <a:pPr>
              <a:buFont typeface="Wingdings" pitchFamily="2" charset="2"/>
              <a:buChar char="q"/>
            </a:pPr>
            <a:r>
              <a:rPr lang="en-US" sz="1800" dirty="0" smtClean="0"/>
              <a:t>Parity errors contained in bits 1 and 2 (BIP-2: bit-interleaved parity 2) of byte V5 of a VT-N (N = 11, 12, 2) are monitored. </a:t>
            </a:r>
          </a:p>
          <a:p>
            <a:pPr>
              <a:buFont typeface="Wingdings" pitchFamily="2" charset="2"/>
              <a:buChar char="q"/>
            </a:pPr>
            <a:r>
              <a:rPr lang="en-US" sz="1800" dirty="0" smtClean="0"/>
              <a:t>If any of the two parity checks fail, the corresponding block is assumed to be in error.</a:t>
            </a:r>
          </a:p>
          <a:p>
            <a:r>
              <a:rPr lang="en-US" sz="1800" b="1" dirty="0" smtClean="0"/>
              <a:t>Loss of Sequence Synchronization (LSS)</a:t>
            </a:r>
          </a:p>
          <a:p>
            <a:pPr>
              <a:buFont typeface="Wingdings" pitchFamily="2" charset="2"/>
              <a:buChar char="q"/>
            </a:pPr>
            <a:r>
              <a:rPr lang="en-US" sz="1800" dirty="0" smtClean="0"/>
              <a:t>Sequence synchronization is considered to be lost and resynchronization is started if the BER is greater than or equal to 0.20 during an integration interval of 1 second.</a:t>
            </a:r>
          </a:p>
          <a:p>
            <a:pPr>
              <a:buFont typeface="Wingdings" pitchFamily="2" charset="2"/>
              <a:buChar char="q"/>
            </a:pPr>
            <a:endParaRPr lang="en-US" sz="1800" dirty="0" smtClean="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Virtual Tributaries</a:t>
            </a:r>
            <a:br>
              <a:rPr lang="en-US" b="1" dirty="0" smtClean="0"/>
            </a:br>
            <a:endParaRPr lang="en-US" dirty="0"/>
          </a:p>
        </p:txBody>
      </p:sp>
      <p:sp>
        <p:nvSpPr>
          <p:cNvPr id="3" name="Content Placeholder 2"/>
          <p:cNvSpPr>
            <a:spLocks noGrp="1"/>
          </p:cNvSpPr>
          <p:nvPr>
            <p:ph idx="1"/>
          </p:nvPr>
        </p:nvSpPr>
        <p:spPr>
          <a:xfrm>
            <a:off x="457200" y="914400"/>
            <a:ext cx="8229600" cy="5943600"/>
          </a:xfrm>
        </p:spPr>
        <p:txBody>
          <a:bodyPr>
            <a:normAutofit fontScale="85000" lnSpcReduction="20000"/>
          </a:bodyPr>
          <a:lstStyle/>
          <a:p>
            <a:r>
              <a:rPr lang="en-US" dirty="0" smtClean="0"/>
              <a:t>The STS SPE can be subdivided into smaller structures, known as virtual tributaries (VTs). </a:t>
            </a:r>
          </a:p>
          <a:p>
            <a:r>
              <a:rPr lang="en-US" dirty="0" smtClean="0"/>
              <a:t>VTs are used for transporting and switching payloads smaller than the STS-1 rate. All services below the DS3, such as DS1 signals, are transported in the VT structure.</a:t>
            </a:r>
          </a:p>
          <a:p>
            <a:r>
              <a:rPr lang="en-US" dirty="0" smtClean="0"/>
              <a:t> The various sub-DS3 TDM payloads that can be carried over VTs are shown in Table. An individual VT containing a DS1 can be added or dropped without multiplexing or </a:t>
            </a:r>
            <a:r>
              <a:rPr lang="en-US" dirty="0" err="1" smtClean="0"/>
              <a:t>demultiplexing</a:t>
            </a:r>
            <a:r>
              <a:rPr lang="en-US" dirty="0" smtClean="0"/>
              <a:t> the entire STS-1.</a:t>
            </a:r>
          </a:p>
          <a:p>
            <a:r>
              <a:rPr lang="en-US" dirty="0" smtClean="0"/>
              <a:t> This improved accessibility improves switching and grooming at VT or STS levels. The STS-1 payload can be subdivided into VTs that are synchronous signals used to transport lower-speed transmissions. There are four sizes of VTs: VT1.5 (1.728 Mbps), VT2 (2.304 Mbps), VT3 (3.456 Mbps), and VT6 (6.912 Mbps).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990600" y="533400"/>
            <a:ext cx="7138743" cy="5745163"/>
          </a:xfrm>
          <a:prstGeom prst="rect">
            <a:avLst/>
          </a:prstGeom>
          <a:noFill/>
          <a:ln w="9525">
            <a:noFill/>
            <a:miter lim="800000"/>
            <a:headEnd/>
            <a:tailEnd/>
          </a:ln>
        </p:spPr>
      </p:pic>
      <p:sp>
        <p:nvSpPr>
          <p:cNvPr id="5" name="Rectangle 4"/>
          <p:cNvSpPr/>
          <p:nvPr/>
        </p:nvSpPr>
        <p:spPr>
          <a:xfrm>
            <a:off x="3332013" y="3244334"/>
            <a:ext cx="2479974" cy="369332"/>
          </a:xfrm>
          <a:prstGeom prst="rect">
            <a:avLst/>
          </a:prstGeom>
        </p:spPr>
        <p:txBody>
          <a:bodyPr wrap="none">
            <a:spAutoFit/>
          </a:bodyPr>
          <a:lstStyle/>
          <a:p>
            <a:r>
              <a:rPr lang="en-US" b="1" dirty="0" smtClean="0"/>
              <a:t>VT Types and Structures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533400" y="1905000"/>
            <a:ext cx="8153399" cy="3810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SONET Multiplexed Hierarchy</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533400" y="1219200"/>
            <a:ext cx="8610600" cy="51816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991600" cy="6858000"/>
          </a:xfrm>
        </p:spPr>
        <p:txBody>
          <a:bodyPr>
            <a:normAutofit fontScale="70000" lnSpcReduction="20000"/>
          </a:bodyPr>
          <a:lstStyle/>
          <a:p>
            <a:r>
              <a:rPr lang="en-US" b="1" dirty="0" smtClean="0"/>
              <a:t>SONET Multiplexing</a:t>
            </a:r>
          </a:p>
          <a:p>
            <a:r>
              <a:rPr lang="en-US" dirty="0" smtClean="0"/>
              <a:t>Various TDM PDH services can be natively accepted by SONET systems. These signals are mapped into the SONET payload envelope through service adapters. </a:t>
            </a:r>
          </a:p>
          <a:p>
            <a:r>
              <a:rPr lang="en-US" dirty="0" smtClean="0"/>
              <a:t>All inputs are eventually converted to a base format of a synchronous STS-1 signal, with the exception of concatenated signals. </a:t>
            </a:r>
          </a:p>
          <a:p>
            <a:r>
              <a:rPr lang="en-US" dirty="0" smtClean="0"/>
              <a:t>DS1 inputs are mapped into VT1.5 SPEs and consequently into VT1.5s.</a:t>
            </a:r>
          </a:p>
          <a:p>
            <a:r>
              <a:rPr lang="en-US" dirty="0" smtClean="0"/>
              <a:t> Other low-speed signals, such as E1, DS1C, and DS2, are also mapped into their respective VTs. The VTs combine to form a virtual group (VG). Seven VGs are then mapped into an STS-1 SPE. The STS-SPE is then provided with its appropriate overhead and converted into an electrical STS-1.</a:t>
            </a:r>
          </a:p>
          <a:p>
            <a:r>
              <a:rPr lang="en-US" dirty="0" smtClean="0"/>
              <a:t> Several synchronous STS-1s are then multiplexed together in either a single- or two-stage process to form an electrical STS-N signal. STS-N multiplexing is performed along with byte interleaving in such a way that the low-speed signals are visible. </a:t>
            </a:r>
          </a:p>
          <a:p>
            <a:r>
              <a:rPr lang="en-US" dirty="0" smtClean="0"/>
              <a:t>The signal is then scrambled. Scrambling is the process of encoding digital 1s and 0s onto a line in such a way that provides an adequate number for a 1s density requirement. The ANSI standard for T1 transmission requires an average density of 1s of 12.5 percent. The primary reason for enforcing a 1s density requirement is for timing recovery or network synchronization. However, other factors, such as automatic-line-build-out (ALBO), equalization, and power usage are also affected by 1s density.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2455</Words>
  <Application>Microsoft Office PowerPoint</Application>
  <PresentationFormat>On-screen Show (4:3)</PresentationFormat>
  <Paragraphs>155</Paragraphs>
  <Slides>37</Slides>
  <Notes>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SONET</vt:lpstr>
      <vt:lpstr>Asynchronous Systems </vt:lpstr>
      <vt:lpstr>Plesiochronous Digital Hierarchy (PDH)</vt:lpstr>
      <vt:lpstr>Disadvantage</vt:lpstr>
      <vt:lpstr>SONET Integration of TDM Signals</vt:lpstr>
      <vt:lpstr>SONET Electrical and Optical Signals</vt:lpstr>
      <vt:lpstr>SONET Synchronization</vt:lpstr>
      <vt:lpstr>Slide 8</vt:lpstr>
      <vt:lpstr>Slide 9</vt:lpstr>
      <vt:lpstr>SONET Layers </vt:lpstr>
      <vt:lpstr>Path Layer </vt:lpstr>
      <vt:lpstr>Line Layer </vt:lpstr>
      <vt:lpstr>Section Layer </vt:lpstr>
      <vt:lpstr>Photonic Layer </vt:lpstr>
      <vt:lpstr>STANDARDS</vt:lpstr>
      <vt:lpstr>SONET FRAME FORMAT</vt:lpstr>
      <vt:lpstr>Slide 17</vt:lpstr>
      <vt:lpstr>SONET LINE RATES</vt:lpstr>
      <vt:lpstr>SPE</vt:lpstr>
      <vt:lpstr>STS-3 OC-3 line rate = 2430 bytes/frame * 8000 frames/sec * 8 bits/byte = 155.52 Mbps 90*9*8*8000=155.52 Mbps </vt:lpstr>
      <vt:lpstr>Path overhead </vt:lpstr>
      <vt:lpstr>Transport overhead </vt:lpstr>
      <vt:lpstr>Section Overhead</vt:lpstr>
      <vt:lpstr>Line Overhead </vt:lpstr>
      <vt:lpstr>TOH</vt:lpstr>
      <vt:lpstr>SOH</vt:lpstr>
      <vt:lpstr>LOH</vt:lpstr>
      <vt:lpstr>POH</vt:lpstr>
      <vt:lpstr>SONET Alarms</vt:lpstr>
      <vt:lpstr>Slide 30</vt:lpstr>
      <vt:lpstr>Slide 31</vt:lpstr>
      <vt:lpstr>Slide 32</vt:lpstr>
      <vt:lpstr>Virtual Tributaries </vt:lpstr>
      <vt:lpstr>Slide 34</vt:lpstr>
      <vt:lpstr>Slide 35</vt:lpstr>
      <vt:lpstr>SONET Multiplexed Hierarchy</vt:lpstr>
      <vt:lpstr>Slide 37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SONET</dc:title>
  <dc:creator> </dc:creator>
  <cp:lastModifiedBy>administrator</cp:lastModifiedBy>
  <cp:revision>22</cp:revision>
  <dcterms:created xsi:type="dcterms:W3CDTF">2011-03-21T15:05:05Z</dcterms:created>
  <dcterms:modified xsi:type="dcterms:W3CDTF">2012-02-23T09:45:01Z</dcterms:modified>
</cp:coreProperties>
</file>