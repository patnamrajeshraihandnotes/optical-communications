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9" r:id="rId2"/>
    <p:sldId id="260" r:id="rId3"/>
    <p:sldId id="261" r:id="rId4"/>
    <p:sldId id="256" r:id="rId5"/>
    <p:sldId id="257" r:id="rId6"/>
    <p:sldId id="262" r:id="rId7"/>
    <p:sldId id="263" r:id="rId8"/>
    <p:sldId id="264" r:id="rId9"/>
    <p:sldId id="265" r:id="rId10"/>
    <p:sldId id="258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1" autoAdjust="0"/>
    <p:restoredTop sz="94638" autoAdjust="0"/>
  </p:normalViewPr>
  <p:slideViewPr>
    <p:cSldViewPr>
      <p:cViewPr varScale="1">
        <p:scale>
          <a:sx n="86" d="100"/>
          <a:sy n="86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5CBC20-924F-4D82-886A-56C30CD0C991}" type="datetimeFigureOut">
              <a:rPr lang="en-US" smtClean="0"/>
              <a:pPr/>
              <a:t>9/30/2013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D7F67B-5BDB-443C-8DAA-2C6D59C5082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DE6D32C-4790-47DA-8BDF-D26AB8582B6C}" type="slidenum">
              <a:rPr lang="en-US"/>
              <a:pPr/>
              <a:t>1</a:t>
            </a:fld>
            <a:endParaRPr lang="en-US"/>
          </a:p>
        </p:txBody>
      </p:sp>
      <p:sp>
        <p:nvSpPr>
          <p:cNvPr id="254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4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44939E-31D0-4006-9CA4-55F2F4CC7C25}" type="slidenum">
              <a:rPr lang="en-US"/>
              <a:pPr/>
              <a:t>2</a:t>
            </a:fld>
            <a:endParaRPr lang="en-US"/>
          </a:p>
        </p:txBody>
      </p:sp>
      <p:sp>
        <p:nvSpPr>
          <p:cNvPr id="257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7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FA2DD-7F7E-4873-93B1-55638A98FCC0}" type="datetimeFigureOut">
              <a:rPr lang="en-US" smtClean="0"/>
              <a:pPr/>
              <a:t>9/30/2013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7B5FC-05D6-449E-B851-6C825B8D21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FA2DD-7F7E-4873-93B1-55638A98FCC0}" type="datetimeFigureOut">
              <a:rPr lang="en-US" smtClean="0"/>
              <a:pPr/>
              <a:t>9/30/2013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7B5FC-05D6-449E-B851-6C825B8D21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FA2DD-7F7E-4873-93B1-55638A98FCC0}" type="datetimeFigureOut">
              <a:rPr lang="en-US" smtClean="0"/>
              <a:pPr/>
              <a:t>9/30/2013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7B5FC-05D6-449E-B851-6C825B8D21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FA2DD-7F7E-4873-93B1-55638A98FCC0}" type="datetimeFigureOut">
              <a:rPr lang="en-US" smtClean="0"/>
              <a:pPr/>
              <a:t>9/30/2013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7B5FC-05D6-449E-B851-6C825B8D21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FA2DD-7F7E-4873-93B1-55638A98FCC0}" type="datetimeFigureOut">
              <a:rPr lang="en-US" smtClean="0"/>
              <a:pPr/>
              <a:t>9/30/2013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7B5FC-05D6-449E-B851-6C825B8D21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FA2DD-7F7E-4873-93B1-55638A98FCC0}" type="datetimeFigureOut">
              <a:rPr lang="en-US" smtClean="0"/>
              <a:pPr/>
              <a:t>9/30/2013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7B5FC-05D6-449E-B851-6C825B8D21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FA2DD-7F7E-4873-93B1-55638A98FCC0}" type="datetimeFigureOut">
              <a:rPr lang="en-US" smtClean="0"/>
              <a:pPr/>
              <a:t>9/30/2013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7B5FC-05D6-449E-B851-6C825B8D21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FA2DD-7F7E-4873-93B1-55638A98FCC0}" type="datetimeFigureOut">
              <a:rPr lang="en-US" smtClean="0"/>
              <a:pPr/>
              <a:t>9/30/2013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7B5FC-05D6-449E-B851-6C825B8D21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FA2DD-7F7E-4873-93B1-55638A98FCC0}" type="datetimeFigureOut">
              <a:rPr lang="en-US" smtClean="0"/>
              <a:pPr/>
              <a:t>9/30/2013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5027B5FC-05D6-449E-B851-6C825B8D211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FA2DD-7F7E-4873-93B1-55638A98FCC0}" type="datetimeFigureOut">
              <a:rPr lang="en-US" smtClean="0"/>
              <a:pPr/>
              <a:t>9/30/2013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7B5FC-05D6-449E-B851-6C825B8D21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FA2DD-7F7E-4873-93B1-55638A98FCC0}" type="datetimeFigureOut">
              <a:rPr lang="en-US" smtClean="0"/>
              <a:pPr/>
              <a:t>9/30/2013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7B5FC-05D6-449E-B851-6C825B8D21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39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39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5ACC351C-C563-400C-85F0-6F436E86C677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1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39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907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43350"/>
            <a:ext cx="4038600" cy="21907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F5D12A46-DB8C-4CBC-B314-86C4024A481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1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6B2FA2DD-7F7E-4873-93B1-55638A98FCC0}" type="datetimeFigureOut">
              <a:rPr lang="en-US" smtClean="0"/>
              <a:pPr/>
              <a:t>9/30/2013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027B5FC-05D6-449E-B851-6C825B8D211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aa.wrs.yahoo.com/_ylt=A0S0zvgdV35Kz1QAHxzlPwx.;_ylu=X3oDMTBqZDFlYmxzBHBvcwMxNgRzZWMDc3IEdnRpZAM-/SIG=1ha361kmb/EXP=1249880221/**http:/malaysia.images.search.yahoo.com/images/view?back=http%3A%2F%2Fmalaysia.images.search.yahoo.com%2Fsearch%2Fimages%3Fp%3Doptical%2Bcable%2Btray%26ei%3Dutf-8%26y%3DSearch%26fr%3Dyfp-t-101&amp;w=175&amp;h=174&amp;imgurl=www.nucoretechnologies.com%2Fimages%2Fsplice-tray.jpg&amp;rurl=http%3A%2F%2Fwww.nucoretechnologies.com%2Fapa.asp&amp;size=18k&amp;name=splice+tray+jpg&amp;p=optical+cable+tray&amp;oid=f202cbe9fc02f868&amp;fr2=&amp;no=16&amp;tt=37&amp;sigr=119ad3uma&amp;sigi=11h72d7fv&amp;sigb=139lt6odh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video" Target="file:///J:\class%20refer\Fusion%20Splicers-%20Fujikura%20FSM-60S%20%5bSplicing%20Operation%5d%20-%20YouTube.mp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838200"/>
            <a:ext cx="8229600" cy="639762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Fiber End Face Preparation</a:t>
            </a:r>
          </a:p>
        </p:txBody>
      </p:sp>
      <p:sp>
        <p:nvSpPr>
          <p:cNvPr id="253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22437"/>
            <a:ext cx="8229600" cy="4449763"/>
          </a:xfrm>
        </p:spPr>
        <p:txBody>
          <a:bodyPr/>
          <a:lstStyle/>
          <a:p>
            <a:r>
              <a:rPr lang="en-US" sz="2000" dirty="0"/>
              <a:t>End face preparation is the first step before splicing or connecting the fibers through connectors.</a:t>
            </a:r>
          </a:p>
          <a:p>
            <a:r>
              <a:rPr lang="en-US" sz="2000" dirty="0" smtClean="0"/>
              <a:t>Fiber </a:t>
            </a:r>
            <a:r>
              <a:rPr lang="en-US" sz="2000" dirty="0"/>
              <a:t>end must be </a:t>
            </a:r>
          </a:p>
          <a:p>
            <a:pPr lvl="2"/>
            <a:r>
              <a:rPr lang="en-US" sz="1600" dirty="0"/>
              <a:t>Flat</a:t>
            </a:r>
          </a:p>
          <a:p>
            <a:pPr lvl="2"/>
            <a:r>
              <a:rPr lang="en-US" sz="1600" dirty="0"/>
              <a:t>Perpendicular to the fiber axis</a:t>
            </a:r>
          </a:p>
          <a:p>
            <a:pPr lvl="2"/>
            <a:r>
              <a:rPr lang="en-US" sz="1600" dirty="0"/>
              <a:t>Smooth</a:t>
            </a:r>
          </a:p>
          <a:p>
            <a:r>
              <a:rPr lang="en-US" sz="2000" dirty="0" smtClean="0"/>
              <a:t>Techniques </a:t>
            </a:r>
            <a:r>
              <a:rPr lang="en-US" sz="2000" dirty="0"/>
              <a:t>used are</a:t>
            </a:r>
          </a:p>
          <a:p>
            <a:pPr lvl="2"/>
            <a:r>
              <a:rPr lang="en-US" sz="1600" dirty="0"/>
              <a:t>Sawing</a:t>
            </a:r>
          </a:p>
          <a:p>
            <a:pPr lvl="2"/>
            <a:r>
              <a:rPr lang="en-US" sz="1600" dirty="0"/>
              <a:t>Grinding</a:t>
            </a:r>
          </a:p>
          <a:p>
            <a:pPr lvl="2"/>
            <a:r>
              <a:rPr lang="en-US" sz="1600" dirty="0"/>
              <a:t>Polishing</a:t>
            </a:r>
          </a:p>
          <a:p>
            <a:r>
              <a:rPr lang="en-US" sz="2000" dirty="0" smtClean="0"/>
              <a:t>Grinding </a:t>
            </a:r>
            <a:r>
              <a:rPr lang="en-US" sz="2000" dirty="0"/>
              <a:t>and Polishing require a controlled environment like laboratory or factory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pPr algn="r"/>
            <a:r>
              <a:rPr lang="en-US"/>
              <a:t>Irfan khan</a:t>
            </a:r>
          </a:p>
        </p:txBody>
      </p:sp>
      <p:sp>
        <p:nvSpPr>
          <p:cNvPr id="2560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5135563"/>
          </a:xfrm>
        </p:spPr>
        <p:txBody>
          <a:bodyPr/>
          <a:lstStyle/>
          <a:p>
            <a:r>
              <a:rPr lang="en-US" sz="2000" dirty="0"/>
              <a:t>Controlled fracture techniques are used to cleave the fiber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Highly smooth and perpendicular end faces can be produced through this method</a:t>
            </a:r>
          </a:p>
          <a:p>
            <a:r>
              <a:rPr lang="en-US" sz="2000" dirty="0"/>
              <a:t>Requires a careful control of the curvature and the tension</a:t>
            </a:r>
          </a:p>
          <a:p>
            <a:r>
              <a:rPr lang="en-US" sz="2000" dirty="0"/>
              <a:t>Improperly controlled tension can cause multiple fracture and can leave a lip or hackled portion</a:t>
            </a:r>
          </a:p>
          <a:p>
            <a:endParaRPr lang="en-US" sz="2000" dirty="0"/>
          </a:p>
        </p:txBody>
      </p:sp>
      <p:pic>
        <p:nvPicPr>
          <p:cNvPr id="25600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38400" y="1676400"/>
            <a:ext cx="3733800" cy="1474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005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133600" y="5105400"/>
            <a:ext cx="48768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5050" y="1495424"/>
            <a:ext cx="2368550" cy="1552575"/>
          </a:xfrm>
          <a:prstGeom prst="rect">
            <a:avLst/>
          </a:prstGeom>
          <a:noFill/>
        </p:spPr>
      </p:pic>
      <p:pic>
        <p:nvPicPr>
          <p:cNvPr id="1638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63600" y="3716338"/>
            <a:ext cx="1984375" cy="1693862"/>
          </a:xfrm>
          <a:prstGeom prst="rect">
            <a:avLst/>
          </a:prstGeom>
          <a:noFill/>
        </p:spPr>
      </p:pic>
      <p:pic>
        <p:nvPicPr>
          <p:cNvPr id="16390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28688" y="1427163"/>
            <a:ext cx="1973270" cy="1620837"/>
          </a:xfrm>
          <a:prstGeom prst="rect">
            <a:avLst/>
          </a:prstGeom>
          <a:noFill/>
        </p:spPr>
      </p:pic>
      <p:pic>
        <p:nvPicPr>
          <p:cNvPr id="16391" name="Picture 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553200" y="1439862"/>
            <a:ext cx="1979613" cy="1608137"/>
          </a:xfrm>
          <a:prstGeom prst="rect">
            <a:avLst/>
          </a:prstGeom>
          <a:noFill/>
        </p:spPr>
      </p:pic>
      <p:pic>
        <p:nvPicPr>
          <p:cNvPr id="16392" name="Picture 8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748088" y="3848100"/>
            <a:ext cx="1925637" cy="1562100"/>
          </a:xfrm>
          <a:prstGeom prst="rect">
            <a:avLst/>
          </a:prstGeom>
          <a:noFill/>
        </p:spPr>
      </p:pic>
      <p:pic>
        <p:nvPicPr>
          <p:cNvPr id="16393" name="Picture 9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6629400" y="3792538"/>
            <a:ext cx="1974850" cy="1617662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1981200" y="838200"/>
            <a:ext cx="57522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Tools Used For Splicing Of Fibers</a:t>
            </a:r>
            <a:endParaRPr lang="en-US" sz="28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14400" y="1295400"/>
            <a:ext cx="335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733800" y="1066800"/>
            <a:ext cx="3429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Fiber  Splicing: 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600" y="1828800"/>
            <a:ext cx="8687122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en-US" dirty="0" smtClean="0"/>
              <a:t>   A major consideration in all types of  Fiber – Fibers connection is Optical loss </a:t>
            </a:r>
          </a:p>
          <a:p>
            <a:r>
              <a:rPr lang="en-US" dirty="0" smtClean="0"/>
              <a:t>Encountered at interface.</a:t>
            </a:r>
          </a:p>
          <a:p>
            <a:endParaRPr lang="en-US" dirty="0" smtClean="0"/>
          </a:p>
          <a:p>
            <a:pPr>
              <a:buFont typeface="Wingdings" pitchFamily="2" charset="2"/>
              <a:buChar char="v"/>
            </a:pPr>
            <a:r>
              <a:rPr lang="en-US" dirty="0" smtClean="0"/>
              <a:t>    A permanent joint formed between two individual fibers in the fields (or) factory </a:t>
            </a:r>
          </a:p>
          <a:p>
            <a:r>
              <a:rPr lang="en-US" dirty="0" smtClean="0"/>
              <a:t>is known as fibers splices </a:t>
            </a:r>
          </a:p>
          <a:p>
            <a:endParaRPr lang="en-US" dirty="0" smtClean="0"/>
          </a:p>
          <a:p>
            <a:r>
              <a:rPr lang="en-US" dirty="0" smtClean="0"/>
              <a:t>Splices may be divided into two broad categories depends on splicing techniques.</a:t>
            </a:r>
          </a:p>
          <a:p>
            <a:endParaRPr lang="en-US" dirty="0" smtClean="0"/>
          </a:p>
          <a:p>
            <a:pPr marL="342900" indent="-342900">
              <a:buAutoNum type="arabicPeriod"/>
            </a:pPr>
            <a:r>
              <a:rPr lang="en-US" dirty="0" smtClean="0"/>
              <a:t>Fusion Splicing (or)  Welding</a:t>
            </a:r>
          </a:p>
          <a:p>
            <a:pPr marL="342900" indent="-342900">
              <a:buAutoNum type="arabicPeriod"/>
            </a:pPr>
            <a:r>
              <a:rPr lang="en-US" dirty="0" smtClean="0"/>
              <a:t> Mechanical Splicing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Fusion splicing is accomplished by applying localized heating (by flame or electric arc) at interface between two butted, realigned fiber ends causing them to soften and fuse.</a:t>
            </a:r>
          </a:p>
          <a:p>
            <a:pPr>
              <a:buFont typeface="Wingdings" pitchFamily="2" charset="2"/>
              <a:buChar char="v"/>
            </a:pPr>
            <a:r>
              <a:rPr lang="en-US" dirty="0" smtClean="0"/>
              <a:t>  </a:t>
            </a:r>
            <a:r>
              <a:rPr lang="en-US" sz="2800" dirty="0" smtClean="0"/>
              <a:t>Three different types of splicing can be done</a:t>
            </a:r>
          </a:p>
          <a:p>
            <a:pPr>
              <a:buFontTx/>
              <a:buNone/>
            </a:pPr>
            <a:endParaRPr lang="en-US" sz="2800" dirty="0" smtClean="0"/>
          </a:p>
          <a:p>
            <a:pPr lvl="2"/>
            <a:r>
              <a:rPr lang="en-US" b="1" i="1" dirty="0" smtClean="0"/>
              <a:t>Fusion splicing</a:t>
            </a:r>
          </a:p>
          <a:p>
            <a:pPr lvl="2"/>
            <a:r>
              <a:rPr lang="en-US" b="1" i="1" dirty="0" smtClean="0"/>
              <a:t>V-groove mechanical splicing</a:t>
            </a:r>
          </a:p>
          <a:p>
            <a:pPr lvl="2"/>
            <a:r>
              <a:rPr lang="en-US" b="1" i="1" dirty="0" smtClean="0"/>
              <a:t>Elastic tube splice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057400" y="1219200"/>
            <a:ext cx="50154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AutoNum type="arabicPeriod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Fusion Splicing (or)  Welding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905000"/>
            <a:ext cx="4835525" cy="183197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000" dirty="0"/>
              <a:t>Once the fiber ends are prepared they are placed in the fusion splicer. Press the button and the machine takes care of the rest of the fusion process automatically </a:t>
            </a:r>
          </a:p>
        </p:txBody>
      </p:sp>
      <p:sp>
        <p:nvSpPr>
          <p:cNvPr id="24580" name="Text Box 4"/>
          <p:cNvSpPr txBox="1">
            <a:spLocks noChangeArrowheads="1"/>
          </p:cNvSpPr>
          <p:nvPr/>
        </p:nvSpPr>
        <p:spPr bwMode="auto">
          <a:xfrm>
            <a:off x="457200" y="3886200"/>
            <a:ext cx="8207375" cy="192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en-US" sz="2000" dirty="0"/>
              <a:t>   First the two fibers are aligned, you can see this on the photo  </a:t>
            </a:r>
          </a:p>
          <a:p>
            <a:r>
              <a:rPr lang="en-US" sz="2000" dirty="0"/>
              <a:t>    where a much magnified image shows the two fiber ends. The </a:t>
            </a:r>
          </a:p>
          <a:p>
            <a:r>
              <a:rPr lang="en-US" sz="2000" dirty="0"/>
              <a:t>    display also shows how well the cleaver does its job of producing a </a:t>
            </a:r>
          </a:p>
          <a:p>
            <a:r>
              <a:rPr lang="en-US" sz="2000" dirty="0"/>
              <a:t>    perfect 90 degree cut. </a:t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endParaRPr lang="en-US" sz="2000" dirty="0"/>
          </a:p>
        </p:txBody>
      </p:sp>
      <p:sp>
        <p:nvSpPr>
          <p:cNvPr id="24581" name="Text Box 5"/>
          <p:cNvSpPr txBox="1">
            <a:spLocks noChangeArrowheads="1"/>
          </p:cNvSpPr>
          <p:nvPr/>
        </p:nvSpPr>
        <p:spPr bwMode="auto">
          <a:xfrm>
            <a:off x="1095375" y="3089275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pic>
        <p:nvPicPr>
          <p:cNvPr id="24582" name="Picture 6" descr="Fibers going in to the splicer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5334000" y="1341438"/>
            <a:ext cx="3125788" cy="2438432"/>
          </a:xfrm>
          <a:noFill/>
          <a:ln/>
        </p:spPr>
      </p:pic>
      <p:sp>
        <p:nvSpPr>
          <p:cNvPr id="7" name="Rectangle 6"/>
          <p:cNvSpPr/>
          <p:nvPr/>
        </p:nvSpPr>
        <p:spPr>
          <a:xfrm>
            <a:off x="838200" y="914400"/>
            <a:ext cx="398557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smtClean="0"/>
              <a:t>The Fusion Process</a:t>
            </a:r>
            <a:r>
              <a:rPr lang="en-US" sz="3200" dirty="0" smtClean="0"/>
              <a:t> </a:t>
            </a:r>
            <a:endParaRPr lang="en-US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 Displayed</a:t>
            </a:r>
          </a:p>
        </p:txBody>
      </p:sp>
      <p:pic>
        <p:nvPicPr>
          <p:cNvPr id="3584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838200" y="1828800"/>
            <a:ext cx="7416800" cy="4751387"/>
          </a:xfrm>
          <a:noFill/>
          <a:ln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1676400"/>
            <a:ext cx="8382000" cy="15240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800" dirty="0"/>
              <a:t>   The protective tube gives </a:t>
            </a:r>
            <a:r>
              <a:rPr lang="en-US" sz="2800" dirty="0" smtClean="0"/>
              <a:t>physical </a:t>
            </a:r>
            <a:r>
              <a:rPr lang="en-US" sz="2800" dirty="0"/>
              <a:t>protection to the splice and further protection is provided by placing the splice into a splice tray. </a:t>
            </a:r>
          </a:p>
        </p:txBody>
      </p:sp>
      <p:sp>
        <p:nvSpPr>
          <p:cNvPr id="29700" name="Text Box 4"/>
          <p:cNvSpPr txBox="1">
            <a:spLocks noChangeArrowheads="1"/>
          </p:cNvSpPr>
          <p:nvPr/>
        </p:nvSpPr>
        <p:spPr bwMode="auto">
          <a:xfrm>
            <a:off x="4767263" y="4384675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pic>
        <p:nvPicPr>
          <p:cNvPr id="29701" name="Picture 5" descr="Heat Shrink Oven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2438400" y="3200400"/>
            <a:ext cx="5029200" cy="2667000"/>
          </a:xfrm>
          <a:noFill/>
          <a:ln/>
        </p:spPr>
      </p:pic>
      <p:sp>
        <p:nvSpPr>
          <p:cNvPr id="6" name="Rectangle 5"/>
          <p:cNvSpPr/>
          <p:nvPr/>
        </p:nvSpPr>
        <p:spPr>
          <a:xfrm>
            <a:off x="3124200" y="914400"/>
            <a:ext cx="288784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 smtClean="0"/>
              <a:t>Protection</a:t>
            </a:r>
            <a:r>
              <a:rPr lang="en-US" sz="4000" dirty="0" smtClean="0"/>
              <a:t> 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sz="2400"/>
              <a:t>Once all of the fibers have been joined the whole tray is then fixed into a splice box which protects the cable joint as a whole and the cable clamps are then tightened to prevent any external forces from pulling on the splices.</a:t>
            </a:r>
            <a:br>
              <a:rPr lang="en-US" sz="2400"/>
            </a:br>
            <a:r>
              <a:rPr lang="en-US" sz="2400"/>
              <a:t/>
            </a:r>
            <a:br>
              <a:rPr lang="en-US" sz="2400"/>
            </a:br>
            <a:endParaRPr lang="en-US" sz="2400"/>
          </a:p>
        </p:txBody>
      </p:sp>
      <p:pic>
        <p:nvPicPr>
          <p:cNvPr id="31749" name="Picture 5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4710113" y="1484313"/>
            <a:ext cx="3914775" cy="2084387"/>
          </a:xfrm>
          <a:noFill/>
          <a:ln/>
        </p:spPr>
      </p:pic>
      <p:sp>
        <p:nvSpPr>
          <p:cNvPr id="31748" name="Text Box 4"/>
          <p:cNvSpPr txBox="1">
            <a:spLocks noChangeArrowheads="1"/>
          </p:cNvSpPr>
          <p:nvPr/>
        </p:nvSpPr>
        <p:spPr bwMode="auto">
          <a:xfrm>
            <a:off x="6784975" y="85725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pic>
        <p:nvPicPr>
          <p:cNvPr id="31753" name="Picture 9" descr="f202cbe9fc02f868">
            <a:hlinkClick r:id="rId3"/>
          </p:cNvPr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/>
          <a:srcRect/>
          <a:stretch>
            <a:fillRect/>
          </a:stretch>
        </p:blipFill>
        <p:spPr>
          <a:xfrm>
            <a:off x="5219700" y="3792538"/>
            <a:ext cx="2520950" cy="1836737"/>
          </a:xfrm>
          <a:ln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Fusion Splicers- Fujikura FSM-60S [Splicing Operation] - YouTube.mp4">
            <a:hlinkClick r:id="" action="ppaction://media"/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381000" y="914400"/>
            <a:ext cx="8483600" cy="5334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114</TotalTime>
  <Words>375</Words>
  <Application>Microsoft Office PowerPoint</Application>
  <PresentationFormat>On-screen Show (4:3)</PresentationFormat>
  <Paragraphs>56</Paragraphs>
  <Slides>10</Slides>
  <Notes>2</Notes>
  <HiddenSlides>0</HiddenSlides>
  <MMClips>1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Flow</vt:lpstr>
      <vt:lpstr>Fiber End Face Preparation</vt:lpstr>
      <vt:lpstr>Slide 2</vt:lpstr>
      <vt:lpstr>Slide 3</vt:lpstr>
      <vt:lpstr>Slide 4</vt:lpstr>
      <vt:lpstr>Slide 5</vt:lpstr>
      <vt:lpstr>Slide 6</vt:lpstr>
      <vt:lpstr>Screen Displayed</vt:lpstr>
      <vt:lpstr>Slide 8</vt:lpstr>
      <vt:lpstr>Slide 9</vt:lpstr>
      <vt:lpstr>Slide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rajesh</dc:creator>
  <cp:lastModifiedBy>rajesh</cp:lastModifiedBy>
  <cp:revision>27</cp:revision>
  <dcterms:created xsi:type="dcterms:W3CDTF">2013-09-26T06:17:46Z</dcterms:created>
  <dcterms:modified xsi:type="dcterms:W3CDTF">2013-09-30T09:56:02Z</dcterms:modified>
</cp:coreProperties>
</file>