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8" r:id="rId5"/>
    <p:sldId id="269" r:id="rId6"/>
    <p:sldId id="259" r:id="rId7"/>
    <p:sldId id="260" r:id="rId8"/>
    <p:sldId id="271" r:id="rId9"/>
    <p:sldId id="261" r:id="rId10"/>
    <p:sldId id="270" r:id="rId11"/>
    <p:sldId id="262" r:id="rId12"/>
    <p:sldId id="263" r:id="rId13"/>
    <p:sldId id="267" r:id="rId14"/>
    <p:sldId id="264" r:id="rId15"/>
    <p:sldId id="265" r:id="rId16"/>
    <p:sldId id="266"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66" d="100"/>
          <a:sy n="66" d="100"/>
        </p:scale>
        <p:origin x="-1506" y="-14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7/17/2012</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7/17/2012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7/17/2012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7/17/2012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7/17/2012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7/17/2012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7/17/2012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7/17/2012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7/17/2012</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447800" y="2362200"/>
            <a:ext cx="6288902" cy="1754326"/>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36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Ant Based Survivable Routing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36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in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36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WDM Networks</a:t>
            </a:r>
            <a:endParaRPr kumimoji="0" lang="en-US" sz="4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1" y="1752600"/>
            <a:ext cx="7162800" cy="4154984"/>
          </a:xfrm>
          <a:prstGeom prst="rect">
            <a:avLst/>
          </a:prstGeom>
        </p:spPr>
        <p:txBody>
          <a:bodyPr wrap="square">
            <a:spAutoFit/>
          </a:bodyPr>
          <a:lstStyle/>
          <a:p>
            <a:pPr>
              <a:buFont typeface="Wingdings" pitchFamily="2" charset="2"/>
              <a:buChar char="Ø"/>
            </a:pPr>
            <a:r>
              <a:rPr lang="en-US" sz="2400" dirty="0" smtClean="0">
                <a:latin typeface="Times New Roman" pitchFamily="18" charset="0"/>
                <a:cs typeface="Times New Roman" pitchFamily="18" charset="0"/>
              </a:rPr>
              <a:t>Ant colony optimization (ACO) : In this work generate backup paths using basic scheduling and routing mechanisms. In addition to this, the backup paths created by these mechanisms are static paths, which are unaware of impairments in links.</a:t>
            </a:r>
          </a:p>
          <a:p>
            <a:endParaRPr lang="en-US" sz="2400" dirty="0" smtClean="0">
              <a:latin typeface="Times New Roman" pitchFamily="18" charset="0"/>
              <a:cs typeface="Times New Roman" pitchFamily="18" charset="0"/>
            </a:endParaRPr>
          </a:p>
          <a:p>
            <a:pPr>
              <a:buFont typeface="Wingdings" pitchFamily="2" charset="2"/>
              <a:buChar char="Ø"/>
            </a:pPr>
            <a:r>
              <a:rPr lang="en-US" sz="2400" dirty="0" smtClean="0">
                <a:latin typeface="Times New Roman" pitchFamily="18" charset="0"/>
                <a:cs typeface="Times New Roman" pitchFamily="18" charset="0"/>
              </a:rPr>
              <a:t>Our proposed approach consists of three phases:</a:t>
            </a:r>
          </a:p>
          <a:p>
            <a:pPr lvl="0">
              <a:buFont typeface="Wingdings" pitchFamily="2" charset="2"/>
              <a:buChar char="§"/>
            </a:pPr>
            <a:r>
              <a:rPr lang="en-US" sz="2400" dirty="0" smtClean="0">
                <a:latin typeface="Times New Roman" pitchFamily="18" charset="0"/>
                <a:cs typeface="Times New Roman" pitchFamily="18" charset="0"/>
              </a:rPr>
              <a:t>Ant based </a:t>
            </a:r>
            <a:r>
              <a:rPr lang="en-US" sz="2400" dirty="0" err="1" smtClean="0">
                <a:latin typeface="Times New Roman" pitchFamily="18" charset="0"/>
                <a:cs typeface="Times New Roman" pitchFamily="18" charset="0"/>
              </a:rPr>
              <a:t>lightpath</a:t>
            </a:r>
            <a:r>
              <a:rPr lang="en-US" sz="2400" dirty="0" smtClean="0">
                <a:latin typeface="Times New Roman" pitchFamily="18" charset="0"/>
                <a:cs typeface="Times New Roman" pitchFamily="18" charset="0"/>
              </a:rPr>
              <a:t> setup,</a:t>
            </a:r>
          </a:p>
          <a:p>
            <a:pPr lvl="0">
              <a:buFont typeface="Wingdings" pitchFamily="2" charset="2"/>
              <a:buChar char="§"/>
            </a:pPr>
            <a:r>
              <a:rPr lang="en-US" sz="2400" dirty="0" smtClean="0">
                <a:latin typeface="Times New Roman" pitchFamily="18" charset="0"/>
                <a:cs typeface="Times New Roman" pitchFamily="18" charset="0"/>
              </a:rPr>
              <a:t>Primary and Backup path computation.</a:t>
            </a:r>
          </a:p>
          <a:p>
            <a:pPr lvl="0">
              <a:buFont typeface="Wingdings" pitchFamily="2" charset="2"/>
              <a:buChar char="§"/>
            </a:pPr>
            <a:r>
              <a:rPr lang="en-US" sz="2400" dirty="0" smtClean="0">
                <a:latin typeface="Times New Roman" pitchFamily="18" charset="0"/>
                <a:cs typeface="Times New Roman" pitchFamily="18" charset="0"/>
              </a:rPr>
              <a:t>Wavelength allocation</a:t>
            </a:r>
          </a:p>
          <a:p>
            <a:endParaRPr lang="en-US" sz="2400" dirty="0">
              <a:latin typeface="Times New Roman" pitchFamily="18" charset="0"/>
              <a:cs typeface="Times New Roman" pitchFamily="18" charset="0"/>
            </a:endParaRPr>
          </a:p>
        </p:txBody>
      </p:sp>
      <p:sp>
        <p:nvSpPr>
          <p:cNvPr id="5" name="Rectangle 4"/>
          <p:cNvSpPr/>
          <p:nvPr/>
        </p:nvSpPr>
        <p:spPr>
          <a:xfrm>
            <a:off x="838200" y="990600"/>
            <a:ext cx="2819233" cy="461665"/>
          </a:xfrm>
          <a:prstGeom prst="rect">
            <a:avLst/>
          </a:prstGeom>
        </p:spPr>
        <p:txBody>
          <a:bodyPr wrap="none">
            <a:spAutoFit/>
          </a:bodyPr>
          <a:lstStyle/>
          <a:p>
            <a:r>
              <a:rPr lang="en-US" sz="2400" b="1" dirty="0" smtClean="0">
                <a:latin typeface="Times New Roman" pitchFamily="18" charset="0"/>
                <a:cs typeface="Times New Roman" pitchFamily="18" charset="0"/>
              </a:rPr>
              <a:t>Problem Statement:</a:t>
            </a:r>
            <a:endParaRPr lang="en-US" sz="24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838200"/>
            <a:ext cx="5070619" cy="1077218"/>
          </a:xfrm>
          <a:prstGeom prst="rect">
            <a:avLst/>
          </a:prstGeom>
        </p:spPr>
        <p:txBody>
          <a:bodyPr wrap="none">
            <a:spAutoFit/>
          </a:bodyPr>
          <a:lstStyle/>
          <a:p>
            <a:r>
              <a:rPr lang="en-US" sz="3200" b="1" dirty="0" smtClean="0">
                <a:latin typeface="Times New Roman" pitchFamily="18" charset="0"/>
                <a:cs typeface="Times New Roman" pitchFamily="18" charset="0"/>
              </a:rPr>
              <a:t>Ant Based </a:t>
            </a:r>
            <a:r>
              <a:rPr lang="en-US" sz="3200" b="1" dirty="0" err="1" smtClean="0">
                <a:latin typeface="Times New Roman" pitchFamily="18" charset="0"/>
                <a:cs typeface="Times New Roman" pitchFamily="18" charset="0"/>
              </a:rPr>
              <a:t>lightpath</a:t>
            </a:r>
            <a:r>
              <a:rPr lang="en-US" sz="3200" b="1" dirty="0" smtClean="0">
                <a:latin typeface="Times New Roman" pitchFamily="18" charset="0"/>
                <a:cs typeface="Times New Roman" pitchFamily="18" charset="0"/>
              </a:rPr>
              <a:t> Setup:-</a:t>
            </a:r>
          </a:p>
          <a:p>
            <a:endParaRPr lang="en-US" sz="3200" dirty="0">
              <a:latin typeface="Times New Roman" pitchFamily="18" charset="0"/>
              <a:cs typeface="Times New Roman" pitchFamily="18" charset="0"/>
            </a:endParaRPr>
          </a:p>
        </p:txBody>
      </p:sp>
      <p:sp>
        <p:nvSpPr>
          <p:cNvPr id="3" name="Rectangle 2"/>
          <p:cNvSpPr/>
          <p:nvPr/>
        </p:nvSpPr>
        <p:spPr>
          <a:xfrm>
            <a:off x="838200" y="1524000"/>
            <a:ext cx="7772400" cy="3108543"/>
          </a:xfrm>
          <a:prstGeom prst="rect">
            <a:avLst/>
          </a:prstGeom>
        </p:spPr>
        <p:txBody>
          <a:bodyPr wrap="square">
            <a:spAutoFit/>
          </a:bodyPr>
          <a:lstStyle/>
          <a:p>
            <a:pPr>
              <a:buFont typeface="Wingdings" pitchFamily="2" charset="2"/>
              <a:buChar char="Ø"/>
            </a:pPr>
            <a:r>
              <a:rPr lang="en-US" sz="2800" dirty="0" smtClean="0">
                <a:latin typeface="Times New Roman" pitchFamily="18" charset="0"/>
                <a:cs typeface="Times New Roman" pitchFamily="18" charset="0"/>
              </a:rPr>
              <a:t>Each path in the network is assigned by feasibility value. This feasibility value is calculated by considering the metrics such as bandwidth availability, path length and number of free wavelengths.</a:t>
            </a:r>
          </a:p>
          <a:p>
            <a:endParaRPr lang="en-US" sz="2800" dirty="0" smtClean="0">
              <a:latin typeface="Times New Roman" pitchFamily="18" charset="0"/>
              <a:cs typeface="Times New Roman" pitchFamily="18" charset="0"/>
            </a:endParaRPr>
          </a:p>
          <a:p>
            <a:pPr>
              <a:buFont typeface="Wingdings" pitchFamily="2" charset="2"/>
              <a:buChar char="Ø"/>
            </a:pPr>
            <a:endParaRPr lang="en-US" sz="2800" dirty="0">
              <a:latin typeface="Times New Roman" pitchFamily="18" charset="0"/>
              <a:cs typeface="Times New Roman" pitchFamily="18" charset="0"/>
            </a:endParaRPr>
          </a:p>
        </p:txBody>
      </p:sp>
      <p:pic>
        <p:nvPicPr>
          <p:cNvPr id="4" name="Picture 3"/>
          <p:cNvPicPr/>
          <p:nvPr/>
        </p:nvPicPr>
        <p:blipFill>
          <a:blip r:embed="rId2"/>
          <a:srcRect/>
          <a:stretch>
            <a:fillRect/>
          </a:stretch>
        </p:blipFill>
        <p:spPr bwMode="auto">
          <a:xfrm>
            <a:off x="3124200" y="4191000"/>
            <a:ext cx="2667000" cy="2286000"/>
          </a:xfrm>
          <a:prstGeom prst="rect">
            <a:avLst/>
          </a:prstGeom>
          <a:noFill/>
          <a:ln w="9525">
            <a:noFill/>
            <a:miter lim="800000"/>
            <a:headEnd/>
            <a:tailEnd/>
          </a:ln>
        </p:spPr>
      </p:pic>
      <p:sp>
        <p:nvSpPr>
          <p:cNvPr id="5" name="Rectangle 4"/>
          <p:cNvSpPr/>
          <p:nvPr/>
        </p:nvSpPr>
        <p:spPr>
          <a:xfrm>
            <a:off x="3581400" y="3733800"/>
            <a:ext cx="1729961" cy="369332"/>
          </a:xfrm>
          <a:prstGeom prst="rect">
            <a:avLst/>
          </a:prstGeom>
        </p:spPr>
        <p:txBody>
          <a:bodyPr wrap="none">
            <a:spAutoFit/>
          </a:bodyPr>
          <a:lstStyle/>
          <a:p>
            <a:r>
              <a:rPr lang="en-US" b="1" dirty="0" smtClean="0">
                <a:latin typeface="Times New Roman" pitchFamily="18" charset="0"/>
                <a:ea typeface="Times New Roman" pitchFamily="18" charset="0"/>
                <a:cs typeface="Times New Roman" pitchFamily="18" charset="0"/>
              </a:rPr>
              <a:t>logical topology</a:t>
            </a:r>
            <a:endParaRPr lang="en-US"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2971800" y="1752600"/>
            <a:ext cx="3200400" cy="2286000"/>
          </a:xfrm>
          <a:prstGeom prst="rect">
            <a:avLst/>
          </a:prstGeom>
          <a:noFill/>
          <a:ln w="9525">
            <a:noFill/>
            <a:miter lim="800000"/>
            <a:headEnd/>
            <a:tailEnd/>
          </a:ln>
        </p:spPr>
      </p:pic>
      <p:sp>
        <p:nvSpPr>
          <p:cNvPr id="10241" name="Rectangle 1"/>
          <p:cNvSpPr>
            <a:spLocks noChangeArrowheads="1"/>
          </p:cNvSpPr>
          <p:nvPr/>
        </p:nvSpPr>
        <p:spPr bwMode="auto">
          <a:xfrm>
            <a:off x="838200" y="1371600"/>
            <a:ext cx="71628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ctr" fontAlgn="base">
              <a:spcBef>
                <a:spcPct val="0"/>
              </a:spcBef>
              <a:spcAft>
                <a:spcPct val="0"/>
              </a:spcAft>
            </a:pPr>
            <a:r>
              <a:rPr lang="en-US" dirty="0" smtClean="0"/>
              <a:t>survivable </a:t>
            </a:r>
            <a:r>
              <a:rPr lang="en-US" dirty="0" smtClean="0"/>
              <a:t>routing</a:t>
            </a:r>
            <a:endParaRPr kumimoji="0" lang="en-US"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5" name="Rectangle 4"/>
          <p:cNvSpPr/>
          <p:nvPr/>
        </p:nvSpPr>
        <p:spPr>
          <a:xfrm>
            <a:off x="1371600" y="4267200"/>
            <a:ext cx="7086600" cy="1569660"/>
          </a:xfrm>
          <a:prstGeom prst="rect">
            <a:avLst/>
          </a:prstGeom>
        </p:spPr>
        <p:txBody>
          <a:bodyPr wrap="square">
            <a:spAutoFit/>
          </a:bodyPr>
          <a:lstStyle/>
          <a:p>
            <a:pPr>
              <a:buFont typeface="Wingdings" pitchFamily="2" charset="2"/>
              <a:buChar char="Ø"/>
            </a:pPr>
            <a:r>
              <a:rPr lang="en-US" sz="2400" dirty="0" smtClean="0">
                <a:latin typeface="Times New Roman" pitchFamily="18" charset="0"/>
                <a:cs typeface="Times New Roman" pitchFamily="18" charset="0"/>
              </a:rPr>
              <a:t>On completing the </a:t>
            </a:r>
            <a:r>
              <a:rPr lang="en-US" sz="2400" dirty="0" err="1" smtClean="0">
                <a:latin typeface="Times New Roman" pitchFamily="18" charset="0"/>
                <a:cs typeface="Times New Roman" pitchFamily="18" charset="0"/>
              </a:rPr>
              <a:t>updation</a:t>
            </a:r>
            <a:r>
              <a:rPr lang="en-US" sz="2400" dirty="0" smtClean="0">
                <a:latin typeface="Times New Roman" pitchFamily="18" charset="0"/>
                <a:cs typeface="Times New Roman" pitchFamily="18" charset="0"/>
              </a:rPr>
              <a:t> of pheromone table, the ant updates load of that particular path in the load table. The value of path load is dynamically updated by the ant in the load table.</a:t>
            </a:r>
            <a:endParaRPr lang="en-US" sz="2400" dirty="0" smtClean="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4572000" y="1447800"/>
            <a:ext cx="3886200" cy="4114800"/>
          </a:xfrm>
          <a:prstGeom prst="rect">
            <a:avLst/>
          </a:prstGeom>
          <a:noFill/>
          <a:ln w="9525">
            <a:noFill/>
            <a:miter lim="800000"/>
            <a:headEnd/>
            <a:tailEnd/>
          </a:ln>
        </p:spPr>
      </p:pic>
      <p:pic>
        <p:nvPicPr>
          <p:cNvPr id="3" name="Picture 2"/>
          <p:cNvPicPr/>
          <p:nvPr/>
        </p:nvPicPr>
        <p:blipFill>
          <a:blip r:embed="rId3"/>
          <a:srcRect/>
          <a:stretch>
            <a:fillRect/>
          </a:stretch>
        </p:blipFill>
        <p:spPr bwMode="auto">
          <a:xfrm>
            <a:off x="838200" y="1752600"/>
            <a:ext cx="3505200" cy="259080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762000"/>
            <a:ext cx="6356227" cy="523220"/>
          </a:xfrm>
          <a:prstGeom prst="rect">
            <a:avLst/>
          </a:prstGeom>
        </p:spPr>
        <p:txBody>
          <a:bodyPr wrap="none">
            <a:spAutoFit/>
          </a:bodyPr>
          <a:lstStyle/>
          <a:p>
            <a:r>
              <a:rPr lang="en-US" sz="2800" b="1" dirty="0" smtClean="0">
                <a:latin typeface="Times New Roman" pitchFamily="18" charset="0"/>
                <a:cs typeface="Times New Roman" pitchFamily="18" charset="0"/>
              </a:rPr>
              <a:t>Primary and Backup Path Computation</a:t>
            </a:r>
            <a:endParaRPr lang="en-US" sz="2800" dirty="0">
              <a:latin typeface="Times New Roman" pitchFamily="18" charset="0"/>
              <a:cs typeface="Times New Roman" pitchFamily="18" charset="0"/>
            </a:endParaRPr>
          </a:p>
        </p:txBody>
      </p:sp>
      <p:sp>
        <p:nvSpPr>
          <p:cNvPr id="3" name="Rectangle 2"/>
          <p:cNvSpPr/>
          <p:nvPr/>
        </p:nvSpPr>
        <p:spPr>
          <a:xfrm>
            <a:off x="685800" y="1524000"/>
            <a:ext cx="7620000" cy="2677656"/>
          </a:xfrm>
          <a:prstGeom prst="rect">
            <a:avLst/>
          </a:prstGeom>
        </p:spPr>
        <p:txBody>
          <a:bodyPr wrap="square">
            <a:spAutoFit/>
          </a:bodyPr>
          <a:lstStyle/>
          <a:p>
            <a:pPr algn="just"/>
            <a:r>
              <a:rPr lang="en-US" sz="2400" dirty="0" smtClean="0">
                <a:latin typeface="Times New Roman" pitchFamily="18" charset="0"/>
                <a:cs typeface="Times New Roman" pitchFamily="18" charset="0"/>
              </a:rPr>
              <a:t>Initially, in the path, a major part of the bandwidth is allocated for primary path and this part can not be shared by other paths. Fraction of the bandwidth is allocated for backup path and this can be shared by other disjoint paths. The disjoint path can be primary or backup path. The residual bandwidth is used for future primary and backup paths computations.</a:t>
            </a:r>
            <a:endParaRPr lang="en-US" sz="2400" dirty="0">
              <a:latin typeface="Times New Roman" pitchFamily="18" charset="0"/>
              <a:cs typeface="Times New Roman" pitchFamily="18" charset="0"/>
            </a:endParaRPr>
          </a:p>
        </p:txBody>
      </p:sp>
      <p:sp>
        <p:nvSpPr>
          <p:cNvPr id="4" name="Rectangle 3"/>
          <p:cNvSpPr/>
          <p:nvPr/>
        </p:nvSpPr>
        <p:spPr>
          <a:xfrm>
            <a:off x="914400" y="4648200"/>
            <a:ext cx="7467600" cy="1384995"/>
          </a:xfrm>
          <a:prstGeom prst="rect">
            <a:avLst/>
          </a:prstGeom>
        </p:spPr>
        <p:txBody>
          <a:bodyPr wrap="square">
            <a:spAutoFit/>
          </a:bodyPr>
          <a:lstStyle/>
          <a:p>
            <a:r>
              <a:rPr lang="en-US" sz="2800" dirty="0" smtClean="0">
                <a:latin typeface="Times New Roman" pitchFamily="18" charset="0"/>
                <a:cs typeface="Times New Roman" pitchFamily="18" charset="0"/>
              </a:rPr>
              <a:t>The backup path can be triggered in two scenarios.</a:t>
            </a:r>
          </a:p>
          <a:p>
            <a:pPr lvl="0">
              <a:buFont typeface="Wingdings" pitchFamily="2" charset="2"/>
              <a:buChar char="§"/>
            </a:pPr>
            <a:r>
              <a:rPr lang="en-US" sz="2800" dirty="0" smtClean="0">
                <a:latin typeface="Times New Roman" pitchFamily="18" charset="0"/>
                <a:cs typeface="Times New Roman" pitchFamily="18" charset="0"/>
              </a:rPr>
              <a:t>Failure Detection</a:t>
            </a:r>
          </a:p>
          <a:p>
            <a:pPr>
              <a:buFont typeface="Wingdings" pitchFamily="2" charset="2"/>
              <a:buChar char="§"/>
            </a:pPr>
            <a:r>
              <a:rPr lang="en-US" sz="2800" dirty="0" smtClean="0">
                <a:latin typeface="Times New Roman" pitchFamily="18" charset="0"/>
                <a:cs typeface="Times New Roman" pitchFamily="18" charset="0"/>
              </a:rPr>
              <a:t>Congestion Detection</a:t>
            </a:r>
            <a:endParaRPr lang="en-US" sz="28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0" y="3657600"/>
            <a:ext cx="7620000" cy="2677656"/>
          </a:xfrm>
          <a:prstGeom prst="rect">
            <a:avLst/>
          </a:prstGeom>
        </p:spPr>
        <p:txBody>
          <a:bodyPr wrap="square">
            <a:spAutoFit/>
          </a:bodyPr>
          <a:lstStyle/>
          <a:p>
            <a:r>
              <a:rPr lang="en-US" sz="2800" dirty="0" smtClean="0">
                <a:latin typeface="Times New Roman" pitchFamily="18" charset="0"/>
                <a:cs typeface="Times New Roman" pitchFamily="18" charset="0"/>
              </a:rPr>
              <a:t>If the load value exceeds beyond </a:t>
            </a:r>
            <a:r>
              <a:rPr lang="en-US" sz="2800" dirty="0" err="1" smtClean="0">
                <a:latin typeface="Times New Roman" pitchFamily="18" charset="0"/>
                <a:cs typeface="Times New Roman" pitchFamily="18" charset="0"/>
              </a:rPr>
              <a:t>Th</a:t>
            </a:r>
            <a:r>
              <a:rPr lang="en-US" sz="2800" baseline="-25000" dirty="0" err="1" smtClean="0">
                <a:latin typeface="Times New Roman" pitchFamily="18" charset="0"/>
                <a:cs typeface="Times New Roman" pitchFamily="18" charset="0"/>
              </a:rPr>
              <a:t>LOAD</a:t>
            </a:r>
            <a:r>
              <a:rPr lang="en-US" sz="2800" dirty="0" smtClean="0">
                <a:latin typeface="Times New Roman" pitchFamily="18" charset="0"/>
                <a:cs typeface="Times New Roman" pitchFamily="18" charset="0"/>
              </a:rPr>
              <a:t>, then it will lead the network to congestion and consequently to the blocking of services. Thus, to prevent these, we let the intermediate node to send a CONGESTION warning message to the source before it exceeds </a:t>
            </a:r>
            <a:r>
              <a:rPr lang="en-US" sz="2800" dirty="0" err="1" smtClean="0">
                <a:latin typeface="Times New Roman" pitchFamily="18" charset="0"/>
                <a:cs typeface="Times New Roman" pitchFamily="18" charset="0"/>
              </a:rPr>
              <a:t>Th</a:t>
            </a:r>
            <a:r>
              <a:rPr lang="en-US" sz="2800" baseline="-25000" dirty="0" err="1" smtClean="0">
                <a:latin typeface="Times New Roman" pitchFamily="18" charset="0"/>
                <a:cs typeface="Times New Roman" pitchFamily="18" charset="0"/>
              </a:rPr>
              <a:t>LOAD</a:t>
            </a:r>
            <a:r>
              <a:rPr lang="en-US" sz="2800" baseline="-250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p:txBody>
      </p:sp>
      <p:sp>
        <p:nvSpPr>
          <p:cNvPr id="3" name="Rectangle 2"/>
          <p:cNvSpPr/>
          <p:nvPr/>
        </p:nvSpPr>
        <p:spPr>
          <a:xfrm>
            <a:off x="914400" y="1143000"/>
            <a:ext cx="7543800" cy="1815882"/>
          </a:xfrm>
          <a:prstGeom prst="rect">
            <a:avLst/>
          </a:prstGeom>
        </p:spPr>
        <p:txBody>
          <a:bodyPr wrap="square">
            <a:spAutoFit/>
          </a:bodyPr>
          <a:lstStyle/>
          <a:p>
            <a:r>
              <a:rPr lang="en-US" sz="2800" dirty="0" smtClean="0">
                <a:latin typeface="Times New Roman" pitchFamily="18" charset="0"/>
                <a:cs typeface="Times New Roman" pitchFamily="18" charset="0"/>
              </a:rPr>
              <a:t>When any intermediate node detects node failure or fiber failure, then it sends FAILURE warning message to the source node along the alternate light path. </a:t>
            </a:r>
            <a:endParaRPr lang="en-US" sz="2800" dirty="0">
              <a:latin typeface="Times New Roman" pitchFamily="18" charset="0"/>
              <a:cs typeface="Times New Roman" pitchFamily="18" charset="0"/>
            </a:endParaRPr>
          </a:p>
        </p:txBody>
      </p:sp>
      <p:sp>
        <p:nvSpPr>
          <p:cNvPr id="4" name="Rectangle 3"/>
          <p:cNvSpPr/>
          <p:nvPr/>
        </p:nvSpPr>
        <p:spPr>
          <a:xfrm>
            <a:off x="762000" y="762000"/>
            <a:ext cx="3068469" cy="523220"/>
          </a:xfrm>
          <a:prstGeom prst="rect">
            <a:avLst/>
          </a:prstGeom>
        </p:spPr>
        <p:txBody>
          <a:bodyPr wrap="none">
            <a:spAutoFit/>
          </a:bodyPr>
          <a:lstStyle/>
          <a:p>
            <a:pPr lvl="0">
              <a:buFont typeface="Wingdings" pitchFamily="2" charset="2"/>
              <a:buChar char="Ø"/>
            </a:pPr>
            <a:r>
              <a:rPr lang="en-US" sz="2800" dirty="0" smtClean="0">
                <a:latin typeface="Times New Roman" pitchFamily="18" charset="0"/>
                <a:cs typeface="Times New Roman" pitchFamily="18" charset="0"/>
              </a:rPr>
              <a:t>Failure Detection:</a:t>
            </a:r>
            <a:endParaRPr lang="en-US" sz="2800" dirty="0">
              <a:latin typeface="Times New Roman" pitchFamily="18" charset="0"/>
              <a:cs typeface="Times New Roman" pitchFamily="18" charset="0"/>
            </a:endParaRPr>
          </a:p>
        </p:txBody>
      </p:sp>
      <p:sp>
        <p:nvSpPr>
          <p:cNvPr id="5" name="Rectangle 4"/>
          <p:cNvSpPr/>
          <p:nvPr/>
        </p:nvSpPr>
        <p:spPr>
          <a:xfrm>
            <a:off x="838200" y="3048000"/>
            <a:ext cx="3586238" cy="523220"/>
          </a:xfrm>
          <a:prstGeom prst="rect">
            <a:avLst/>
          </a:prstGeom>
        </p:spPr>
        <p:txBody>
          <a:bodyPr wrap="none">
            <a:spAutoFit/>
          </a:bodyPr>
          <a:lstStyle/>
          <a:p>
            <a:pPr lvl="0">
              <a:buFont typeface="Wingdings" pitchFamily="2" charset="2"/>
              <a:buChar char="Ø"/>
            </a:pPr>
            <a:r>
              <a:rPr lang="en-US" sz="2800" dirty="0" smtClean="0">
                <a:latin typeface="Times New Roman" pitchFamily="18" charset="0"/>
                <a:cs typeface="Times New Roman" pitchFamily="18" charset="0"/>
              </a:rPr>
              <a:t>Congestion Detection</a:t>
            </a:r>
            <a:endParaRPr lang="en-US" sz="28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2"/>
          <a:srcRect/>
          <a:stretch>
            <a:fillRect/>
          </a:stretch>
        </p:blipFill>
        <p:spPr bwMode="auto">
          <a:xfrm>
            <a:off x="1905000" y="1676400"/>
            <a:ext cx="5589525" cy="36576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685800"/>
            <a:ext cx="3645998" cy="523220"/>
          </a:xfrm>
          <a:prstGeom prst="rect">
            <a:avLst/>
          </a:prstGeom>
        </p:spPr>
        <p:txBody>
          <a:bodyPr wrap="none">
            <a:spAutoFit/>
          </a:bodyPr>
          <a:lstStyle/>
          <a:p>
            <a:r>
              <a:rPr lang="en-US" sz="2800" b="1" dirty="0" smtClean="0">
                <a:latin typeface="Times New Roman" pitchFamily="18" charset="0"/>
                <a:cs typeface="Times New Roman" pitchFamily="18" charset="0"/>
              </a:rPr>
              <a:t>Wavelength Allocation</a:t>
            </a:r>
            <a:endParaRPr lang="en-US" sz="2800" dirty="0">
              <a:latin typeface="Times New Roman" pitchFamily="18" charset="0"/>
              <a:cs typeface="Times New Roman" pitchFamily="18" charset="0"/>
            </a:endParaRPr>
          </a:p>
        </p:txBody>
      </p:sp>
      <p:sp>
        <p:nvSpPr>
          <p:cNvPr id="3" name="Rectangle 2"/>
          <p:cNvSpPr/>
          <p:nvPr/>
        </p:nvSpPr>
        <p:spPr>
          <a:xfrm>
            <a:off x="609600" y="856357"/>
            <a:ext cx="8001000" cy="6001643"/>
          </a:xfrm>
          <a:prstGeom prst="rect">
            <a:avLst/>
          </a:prstGeom>
        </p:spPr>
        <p:txBody>
          <a:bodyPr wrap="square">
            <a:spAutoFit/>
          </a:bodyPr>
          <a:lstStyle/>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typical constraints for wavelength allocation problem are the limited wavelength number on each link and the wavelength continuity constraint for all WDM networks. </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interconnected multilayer-graph model (IMG) [22] is used for the wavelength allocation. We consider that part of the nodes have wavelength conversion.  For nodes without wavelength conversion capability, the wavelength continuity constraint is checked while establishing the light paths .</a:t>
            </a:r>
          </a:p>
          <a:p>
            <a:pPr algn="just"/>
            <a:endParaRPr lang="en-US" sz="2400"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The wavelength assignment algorithm assigns wavelengths to the primary and backup paths in order to share the resources between the current traffic requests and the already established requests.</a:t>
            </a:r>
          </a:p>
          <a:p>
            <a:pPr algn="just"/>
            <a:r>
              <a:rPr lang="en-US" sz="2400" dirty="0" smtClean="0">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srcRect/>
          <a:stretch>
            <a:fillRect/>
          </a:stretch>
        </p:blipFill>
        <p:spPr bwMode="auto">
          <a:xfrm>
            <a:off x="380999" y="1219200"/>
            <a:ext cx="8229601" cy="5214938"/>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ChangeArrowheads="1"/>
          </p:cNvSpPr>
          <p:nvPr/>
        </p:nvSpPr>
        <p:spPr bwMode="auto">
          <a:xfrm>
            <a:off x="304800" y="0"/>
            <a:ext cx="8458200" cy="6370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lang="en-US" sz="3200" b="1" dirty="0" smtClean="0">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3200" b="1" dirty="0" smtClean="0">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lang="en-US" sz="3200" b="1" dirty="0" smtClean="0">
                <a:latin typeface="Times New Roman" pitchFamily="18" charset="0"/>
                <a:ea typeface="Times New Roman" pitchFamily="18" charset="0"/>
                <a:cs typeface="Times New Roman" pitchFamily="18" charset="0"/>
              </a:rPr>
              <a:t>Procedure:-</a:t>
            </a:r>
            <a:endPar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Step 1. An ant is launched in the network by each node periodically towards the destination.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1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Step 2. When an ant is launched in the network by its node, it moves towards random destination to gather information such as bandwidth availability, path length and free wavelengths in that path.</a:t>
            </a:r>
            <a:endParaRPr kumimoji="0" lang="en-US" sz="1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Step 3. After gathering the information it updates pheromone table, which is feasibility value of corresponding path.</a:t>
            </a:r>
            <a:endParaRPr kumimoji="0" lang="en-US" sz="1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Step 4. Each path in the network is assigned the feasibility value. </a:t>
            </a:r>
            <a:endParaRPr kumimoji="0" lang="en-US" sz="12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ChangeArrowheads="1"/>
          </p:cNvSpPr>
          <p:nvPr/>
        </p:nvSpPr>
        <p:spPr bwMode="auto">
          <a:xfrm>
            <a:off x="457200" y="533400"/>
            <a:ext cx="8305800" cy="507831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endParaRPr lang="en-US" sz="2000" dirty="0" smtClean="0">
              <a:latin typeface="Times New Roman" pitchFamily="18" charset="0"/>
              <a:ea typeface="Times New Roman" pitchFamily="18" charset="0"/>
              <a:cs typeface="Times New Roman" pitchFamily="18" charset="0"/>
            </a:endParaRPr>
          </a:p>
          <a:p>
            <a:pPr fontAlgn="base">
              <a:spcBef>
                <a:spcPct val="0"/>
              </a:spcBef>
              <a:spcAft>
                <a:spcPct val="0"/>
              </a:spcAft>
            </a:pPr>
            <a:endParaRPr lang="en-US" sz="2000" dirty="0" smtClean="0">
              <a:latin typeface="Times New Roman" pitchFamily="18" charset="0"/>
              <a:ea typeface="Times New Roman" pitchFamily="18" charset="0"/>
              <a:cs typeface="Times New Roman" pitchFamily="18" charset="0"/>
            </a:endParaRPr>
          </a:p>
          <a:p>
            <a:pPr fontAlgn="base">
              <a:spcBef>
                <a:spcPct val="0"/>
              </a:spcBef>
              <a:spcAft>
                <a:spcPct val="0"/>
              </a:spcAft>
            </a:pPr>
            <a:endParaRPr lang="en-US" sz="2000" dirty="0" smtClean="0">
              <a:latin typeface="Times New Roman" pitchFamily="18" charset="0"/>
              <a:ea typeface="Times New Roman" pitchFamily="18" charset="0"/>
              <a:cs typeface="Times New Roman" pitchFamily="18" charset="0"/>
            </a:endParaRPr>
          </a:p>
          <a:p>
            <a:pPr fontAlgn="base">
              <a:spcBef>
                <a:spcPct val="0"/>
              </a:spcBef>
              <a:spcAft>
                <a:spcPct val="0"/>
              </a:spcAft>
            </a:pPr>
            <a:r>
              <a:rPr lang="en-US" sz="2400" dirty="0" smtClean="0">
                <a:latin typeface="Times New Roman" pitchFamily="18" charset="0"/>
                <a:ea typeface="Times New Roman" pitchFamily="18" charset="0"/>
                <a:cs typeface="Times New Roman" pitchFamily="18" charset="0"/>
              </a:rPr>
              <a:t>Step 5: On completing the </a:t>
            </a:r>
            <a:r>
              <a:rPr lang="en-US" sz="2400" dirty="0" err="1" smtClean="0">
                <a:latin typeface="Times New Roman" pitchFamily="18" charset="0"/>
                <a:ea typeface="Times New Roman" pitchFamily="18" charset="0"/>
                <a:cs typeface="Times New Roman" pitchFamily="18" charset="0"/>
              </a:rPr>
              <a:t>updation</a:t>
            </a:r>
            <a:r>
              <a:rPr lang="en-US" sz="2400" dirty="0" smtClean="0">
                <a:latin typeface="Times New Roman" pitchFamily="18" charset="0"/>
                <a:ea typeface="Times New Roman" pitchFamily="18" charset="0"/>
                <a:cs typeface="Times New Roman" pitchFamily="18" charset="0"/>
              </a:rPr>
              <a:t> of pheromone table, the ant updates load of that particular path in the load table. The value of path load is dynamically updated by the ant in the load table.</a:t>
            </a:r>
            <a:endParaRPr lang="en-US" sz="2400" dirty="0" smtClean="0">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Step 6: In the path, a major part of the bandwidth is allocated for primary path and this part can not be shared by other paths.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Step 7: Fraction of the bandwidth is allocated for backup path and this can be shared by other disjoint paths. The disjoint path can be primary or backup path. The residual bandwidth is used for future primary and backup paths computations.</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143000"/>
            <a:ext cx="8686800" cy="4893647"/>
          </a:xfrm>
          <a:prstGeom prst="rect">
            <a:avLst/>
          </a:prstGeom>
        </p:spPr>
        <p:txBody>
          <a:bodyPr wrap="square">
            <a:spAutoFit/>
          </a:bodyPr>
          <a:lstStyle/>
          <a:p>
            <a:pPr lvl="0" eaLnBrk="0" fontAlgn="base" hangingPunct="0">
              <a:spcBef>
                <a:spcPct val="0"/>
              </a:spcBef>
              <a:spcAft>
                <a:spcPct val="0"/>
              </a:spcAft>
            </a:pPr>
            <a:endParaRPr lang="en-US" sz="2400" dirty="0" smtClean="0">
              <a:latin typeface="Times New Roman" pitchFamily="18" charset="0"/>
              <a:ea typeface="Times New Roman" pitchFamily="18" charset="0"/>
              <a:cs typeface="Times New Roman" pitchFamily="18" charset="0"/>
            </a:endParaRPr>
          </a:p>
          <a:p>
            <a:pPr lvl="0" eaLnBrk="0" fontAlgn="base" hangingPunct="0">
              <a:spcBef>
                <a:spcPct val="0"/>
              </a:spcBef>
              <a:spcAft>
                <a:spcPct val="0"/>
              </a:spcAft>
            </a:pPr>
            <a:r>
              <a:rPr lang="en-US" sz="2400" dirty="0" smtClean="0">
                <a:latin typeface="Times New Roman" pitchFamily="18" charset="0"/>
                <a:ea typeface="Times New Roman" pitchFamily="18" charset="0"/>
                <a:cs typeface="Times New Roman" pitchFamily="18" charset="0"/>
              </a:rPr>
              <a:t>Step 8: If connection request arrives to the source, then</a:t>
            </a:r>
            <a:endParaRPr lang="en-US" sz="2400" dirty="0" smtClean="0">
              <a:latin typeface="Times New Roman" pitchFamily="18" charset="0"/>
              <a:cs typeface="Times New Roman" pitchFamily="18" charset="0"/>
            </a:endParaRPr>
          </a:p>
          <a:p>
            <a:pPr lvl="0" eaLnBrk="0" fontAlgn="base" hangingPunct="0">
              <a:spcBef>
                <a:spcPct val="0"/>
              </a:spcBef>
              <a:spcAft>
                <a:spcPct val="0"/>
              </a:spcAft>
            </a:pPr>
            <a:r>
              <a:rPr lang="en-US" sz="2400" dirty="0" smtClean="0">
                <a:latin typeface="Times New Roman" pitchFamily="18" charset="0"/>
                <a:ea typeface="Times New Roman" pitchFamily="18" charset="0"/>
                <a:cs typeface="Times New Roman" pitchFamily="18" charset="0"/>
              </a:rPr>
              <a:t>             8.1  It looks in its pheromone and load table </a:t>
            </a:r>
            <a:endParaRPr lang="en-US" sz="2400" dirty="0" smtClean="0">
              <a:latin typeface="Times New Roman" pitchFamily="18" charset="0"/>
              <a:cs typeface="Times New Roman" pitchFamily="18" charset="0"/>
            </a:endParaRPr>
          </a:p>
          <a:p>
            <a:pPr lvl="0" eaLnBrk="0" fontAlgn="base" hangingPunct="0">
              <a:spcBef>
                <a:spcPct val="0"/>
              </a:spcBef>
              <a:spcAft>
                <a:spcPct val="0"/>
              </a:spcAft>
            </a:pPr>
            <a:r>
              <a:rPr lang="en-US" sz="2400" dirty="0" smtClean="0">
                <a:latin typeface="Times New Roman" pitchFamily="18" charset="0"/>
                <a:ea typeface="Times New Roman" pitchFamily="18" charset="0"/>
                <a:cs typeface="Times New Roman" pitchFamily="18" charset="0"/>
              </a:rPr>
              <a:t>	8.2 send connection request (CNREQ) message to the 	destination along with feasibility and load values of paths. </a:t>
            </a:r>
            <a:endParaRPr lang="en-US" sz="2400" dirty="0" smtClean="0">
              <a:latin typeface="Times New Roman" pitchFamily="18" charset="0"/>
              <a:cs typeface="Times New Roman" pitchFamily="18" charset="0"/>
            </a:endParaRPr>
          </a:p>
          <a:p>
            <a:pPr lvl="0" eaLnBrk="0" fontAlgn="base" hangingPunct="0">
              <a:spcBef>
                <a:spcPct val="0"/>
              </a:spcBef>
              <a:spcAft>
                <a:spcPct val="0"/>
              </a:spcAft>
            </a:pPr>
            <a:endParaRPr lang="en-US" sz="2400" dirty="0" smtClean="0">
              <a:latin typeface="Times New Roman" pitchFamily="18" charset="0"/>
              <a:cs typeface="Times New Roman" pitchFamily="18" charset="0"/>
            </a:endParaRPr>
          </a:p>
          <a:p>
            <a:pPr lvl="0" eaLnBrk="0" fontAlgn="base" hangingPunct="0">
              <a:spcBef>
                <a:spcPct val="0"/>
              </a:spcBef>
              <a:spcAft>
                <a:spcPct val="0"/>
              </a:spcAft>
            </a:pPr>
            <a:endParaRPr lang="en-US" sz="2400" dirty="0" smtClean="0">
              <a:latin typeface="Times New Roman" pitchFamily="18" charset="0"/>
              <a:ea typeface="Times New Roman" pitchFamily="18" charset="0"/>
              <a:cs typeface="Times New Roman" pitchFamily="18" charset="0"/>
            </a:endParaRPr>
          </a:p>
          <a:p>
            <a:pPr lvl="0" eaLnBrk="0" fontAlgn="base" hangingPunct="0">
              <a:spcBef>
                <a:spcPct val="0"/>
              </a:spcBef>
              <a:spcAft>
                <a:spcPct val="0"/>
              </a:spcAft>
            </a:pPr>
            <a:r>
              <a:rPr lang="en-US" sz="2400" dirty="0" smtClean="0">
                <a:latin typeface="Times New Roman" pitchFamily="18" charset="0"/>
                <a:ea typeface="Times New Roman" pitchFamily="18" charset="0"/>
                <a:cs typeface="Times New Roman" pitchFamily="18" charset="0"/>
              </a:rPr>
              <a:t>Step 9: If destination receives the CNREQ, then</a:t>
            </a:r>
            <a:endParaRPr lang="en-US" sz="2400" dirty="0" smtClean="0">
              <a:latin typeface="Times New Roman" pitchFamily="18" charset="0"/>
              <a:cs typeface="Times New Roman" pitchFamily="18" charset="0"/>
            </a:endParaRPr>
          </a:p>
          <a:p>
            <a:pPr lvl="0" eaLnBrk="0" fontAlgn="base" hangingPunct="0">
              <a:spcBef>
                <a:spcPct val="0"/>
              </a:spcBef>
              <a:spcAft>
                <a:spcPct val="0"/>
              </a:spcAft>
            </a:pPr>
            <a:r>
              <a:rPr lang="en-US" sz="2400" dirty="0" smtClean="0">
                <a:latin typeface="Times New Roman" pitchFamily="18" charset="0"/>
                <a:ea typeface="Times New Roman" pitchFamily="18" charset="0"/>
                <a:cs typeface="Times New Roman" pitchFamily="18" charset="0"/>
              </a:rPr>
              <a:t>	9.1 If   feasibility value &gt; </a:t>
            </a:r>
            <a:r>
              <a:rPr lang="en-US" sz="2400" dirty="0" err="1" smtClean="0">
                <a:latin typeface="Times New Roman" pitchFamily="18" charset="0"/>
                <a:ea typeface="Times New Roman" pitchFamily="18" charset="0"/>
                <a:cs typeface="Times New Roman" pitchFamily="18" charset="0"/>
              </a:rPr>
              <a:t>Th</a:t>
            </a:r>
            <a:r>
              <a:rPr lang="en-US" sz="2400" baseline="-30000" dirty="0" err="1" smtClean="0">
                <a:latin typeface="Times New Roman" pitchFamily="18" charset="0"/>
                <a:ea typeface="Times New Roman" pitchFamily="18" charset="0"/>
                <a:cs typeface="Times New Roman" pitchFamily="18" charset="0"/>
              </a:rPr>
              <a:t>feas</a:t>
            </a:r>
            <a:r>
              <a:rPr lang="en-US" sz="2400" dirty="0" smtClean="0">
                <a:latin typeface="Times New Roman" pitchFamily="18" charset="0"/>
                <a:ea typeface="Times New Roman" pitchFamily="18" charset="0"/>
                <a:cs typeface="Times New Roman" pitchFamily="18" charset="0"/>
              </a:rPr>
              <a:t> and load value &lt; </a:t>
            </a:r>
            <a:r>
              <a:rPr lang="en-US" sz="2400" dirty="0" err="1" smtClean="0">
                <a:latin typeface="Times New Roman" pitchFamily="18" charset="0"/>
                <a:ea typeface="Times New Roman" pitchFamily="18" charset="0"/>
                <a:cs typeface="Times New Roman" pitchFamily="18" charset="0"/>
              </a:rPr>
              <a:t>Th</a:t>
            </a:r>
            <a:r>
              <a:rPr lang="en-US" sz="2400" baseline="-30000" dirty="0" err="1" smtClean="0">
                <a:latin typeface="Times New Roman" pitchFamily="18" charset="0"/>
                <a:ea typeface="Times New Roman" pitchFamily="18" charset="0"/>
                <a:cs typeface="Times New Roman" pitchFamily="18" charset="0"/>
              </a:rPr>
              <a:t>LOAD</a:t>
            </a:r>
            <a:r>
              <a:rPr lang="en-US" sz="2400" baseline="-30000" dirty="0" smtClean="0">
                <a:latin typeface="Times New Roman" pitchFamily="18" charset="0"/>
                <a:ea typeface="Times New Roman" pitchFamily="18" charset="0"/>
                <a:cs typeface="Times New Roman" pitchFamily="18" charset="0"/>
              </a:rPr>
              <a:t>, </a:t>
            </a:r>
            <a:r>
              <a:rPr lang="en-US" sz="2400" dirty="0" smtClean="0">
                <a:latin typeface="Times New Roman" pitchFamily="18" charset="0"/>
                <a:ea typeface="Times New Roman" pitchFamily="18" charset="0"/>
                <a:cs typeface="Times New Roman" pitchFamily="18" charset="0"/>
              </a:rPr>
              <a:t>then           </a:t>
            </a:r>
            <a:endParaRPr lang="en-US" sz="2400" dirty="0" smtClean="0">
              <a:latin typeface="Times New Roman" pitchFamily="18" charset="0"/>
              <a:cs typeface="Times New Roman" pitchFamily="18" charset="0"/>
            </a:endParaRPr>
          </a:p>
          <a:p>
            <a:pPr lvl="0" eaLnBrk="0" fontAlgn="base" hangingPunct="0">
              <a:spcBef>
                <a:spcPct val="0"/>
              </a:spcBef>
              <a:spcAft>
                <a:spcPct val="0"/>
              </a:spcAft>
            </a:pPr>
            <a:r>
              <a:rPr lang="en-US" sz="2400" dirty="0" smtClean="0">
                <a:latin typeface="Times New Roman" pitchFamily="18" charset="0"/>
                <a:ea typeface="Times New Roman" pitchFamily="18" charset="0"/>
                <a:cs typeface="Times New Roman" pitchFamily="18" charset="0"/>
              </a:rPr>
              <a:t>                      </a:t>
            </a:r>
          </a:p>
          <a:p>
            <a:pPr lvl="0" eaLnBrk="0" fontAlgn="base" hangingPunct="0">
              <a:spcBef>
                <a:spcPct val="0"/>
              </a:spcBef>
              <a:spcAft>
                <a:spcPct val="0"/>
              </a:spcAft>
            </a:pPr>
            <a:r>
              <a:rPr lang="en-US" sz="2400" dirty="0" smtClean="0">
                <a:latin typeface="Times New Roman" pitchFamily="18" charset="0"/>
                <a:ea typeface="Times New Roman" pitchFamily="18" charset="0"/>
                <a:cs typeface="Times New Roman" pitchFamily="18" charset="0"/>
              </a:rPr>
              <a:t>           9.1.1 Select that path for further processing.</a:t>
            </a:r>
            <a:endParaRPr lang="en-US" sz="2400" dirty="0" smtClean="0">
              <a:latin typeface="Times New Roman" pitchFamily="18" charset="0"/>
              <a:cs typeface="Times New Roman" pitchFamily="18" charset="0"/>
            </a:endParaRPr>
          </a:p>
          <a:p>
            <a:pPr lvl="0" eaLnBrk="0" fontAlgn="base" hangingPunct="0">
              <a:spcBef>
                <a:spcPct val="0"/>
              </a:spcBef>
              <a:spcAft>
                <a:spcPct val="0"/>
              </a:spcAft>
            </a:pPr>
            <a:r>
              <a:rPr lang="en-US" sz="2400" dirty="0" smtClean="0">
                <a:latin typeface="Times New Roman" pitchFamily="18" charset="0"/>
                <a:ea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lvl="0" eaLnBrk="0" fontAlgn="base" hangingPunct="0">
              <a:spcBef>
                <a:spcPct val="0"/>
              </a:spcBef>
              <a:spcAft>
                <a:spcPct val="0"/>
              </a:spcAft>
            </a:pPr>
            <a:endParaRPr lang="en-US" sz="2400" dirty="0" smtClean="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304800" y="1600200"/>
            <a:ext cx="8839200" cy="393954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Results:-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Using NS-2 simulation we show that the proposed ant based routing </a:t>
            </a:r>
            <a:r>
              <a:rPr kumimoji="0" lang="en-US" sz="2800" b="0"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achives</a:t>
            </a: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better channel utilization and throughput with reduced delay, when compared with the normal routing. We measure performance metrics delay, throughput and bandwidth utilization, by varying the CBR traffic sending rate and flows.</a:t>
            </a:r>
            <a:endParaRPr kumimoji="0" lang="en-US" sz="1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40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
          <p:cNvSpPr>
            <a:spLocks noChangeArrowheads="1"/>
          </p:cNvSpPr>
          <p:nvPr/>
        </p:nvSpPr>
        <p:spPr bwMode="auto">
          <a:xfrm>
            <a:off x="304800" y="1524000"/>
            <a:ext cx="8305800" cy="32624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Future Scope:-</a:t>
            </a:r>
          </a:p>
          <a:p>
            <a:pPr marL="0" marR="0" lvl="0" indent="0" algn="l" defTabSz="914400" rtl="0" eaLnBrk="1" fontAlgn="base" latinLnBrk="0" hangingPunct="1">
              <a:lnSpc>
                <a:spcPct val="100000"/>
              </a:lnSpc>
              <a:spcBef>
                <a:spcPct val="0"/>
              </a:spcBef>
              <a:spcAft>
                <a:spcPct val="0"/>
              </a:spcAft>
              <a:buClrTx/>
              <a:buSzTx/>
              <a:buFontTx/>
              <a:buNone/>
              <a:tabLst/>
            </a:pPr>
            <a:endParaRPr lang="en-US" sz="4400" b="1" dirty="0" smtClean="0">
              <a:latin typeface="Times New Roman" pitchFamily="18" charset="0"/>
              <a:cs typeface="Times New Roman" pitchFamily="18" charset="0"/>
            </a:endParaRPr>
          </a:p>
          <a:p>
            <a:pPr fontAlgn="base">
              <a:spcBef>
                <a:spcPct val="0"/>
              </a:spcBef>
              <a:spcAft>
                <a:spcPct val="0"/>
              </a:spcAft>
            </a:pPr>
            <a:r>
              <a:rPr lang="en-US" sz="2400" dirty="0" smtClean="0">
                <a:latin typeface="Times New Roman" pitchFamily="18" charset="0"/>
                <a:cs typeface="Times New Roman" pitchFamily="18" charset="0"/>
              </a:rPr>
              <a:t>The Routing  and Wavelength path network that has higher feasibility value and the load value lesser than a threshold value can be selected by the destination for further processing.</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As a future work, an accurate fault localization technique for the WDM network can be designed.</a:t>
            </a:r>
            <a:endParaRPr kumimoji="0" lang="en-US" sz="3600" b="0"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ChangeArrowheads="1"/>
          </p:cNvSpPr>
          <p:nvPr/>
        </p:nvSpPr>
        <p:spPr bwMode="auto">
          <a:xfrm>
            <a:off x="304800" y="533400"/>
            <a:ext cx="8001000" cy="518603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Conclusion</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In this work, we have proposed an ant based approach for survivable routing in WDM networks. An ant is launched in the network by each node periodically towards the destination.  Each path in the network is assigned by feasibility value. </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000" dirty="0" smtClean="0">
              <a:latin typeface="Arial" pitchFamily="34" charset="0"/>
              <a:ea typeface="Times New Roman" pitchFamily="18"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When an ant is launched in the network by its node, it moves towards random destination to gather information such as bandwidth availability, path length and free wavelengths in that path. After gathering the information it updates pheromone table, which is feasibility value of corresponding path. On completing the </a:t>
            </a:r>
            <a:r>
              <a:rPr kumimoji="0" lang="en-US" sz="2000" b="0" i="0" u="none" strike="noStrike" cap="none" normalizeH="0" baseline="0" dirty="0" err="1" smtClean="0">
                <a:ln>
                  <a:noFill/>
                </a:ln>
                <a:solidFill>
                  <a:schemeClr val="tx1"/>
                </a:solidFill>
                <a:effectLst/>
                <a:latin typeface="Arial" pitchFamily="34" charset="0"/>
                <a:ea typeface="Times New Roman" pitchFamily="18" charset="0"/>
                <a:cs typeface="Arial" pitchFamily="34" charset="0"/>
              </a:rPr>
              <a:t>updation</a:t>
            </a:r>
            <a:r>
              <a:rPr kumimoji="0" lang="en-US" sz="2000" b="0" i="0" u="none" strike="noStrike" cap="none" normalizeH="0" baseline="0" dirty="0" smtClean="0">
                <a:ln>
                  <a:noFill/>
                </a:ln>
                <a:solidFill>
                  <a:schemeClr val="tx1"/>
                </a:solidFill>
                <a:effectLst/>
                <a:latin typeface="Arial" pitchFamily="34" charset="0"/>
                <a:ea typeface="Times New Roman" pitchFamily="18" charset="0"/>
                <a:cs typeface="Arial" pitchFamily="34" charset="0"/>
              </a:rPr>
              <a:t> of pheromone table, the ant updates load of that particular path in the load table. The value of path load is dynamically updated by the ant in the load table. The path that has higher feasibility value and the load value lesser than a threshold value can be selected by the destination for further processing.</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125</TotalTime>
  <Words>916</Words>
  <Application>Microsoft Office PowerPoint</Application>
  <PresentationFormat>On-screen Show (4:3)</PresentationFormat>
  <Paragraphs>75</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Flow</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ranga</dc:creator>
  <cp:lastModifiedBy>ranga</cp:lastModifiedBy>
  <cp:revision>29</cp:revision>
  <dcterms:created xsi:type="dcterms:W3CDTF">2006-08-16T00:00:00Z</dcterms:created>
  <dcterms:modified xsi:type="dcterms:W3CDTF">2012-07-17T11:20:03Z</dcterms:modified>
</cp:coreProperties>
</file>