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74" r:id="rId4"/>
    <p:sldId id="275" r:id="rId5"/>
    <p:sldId id="258" r:id="rId6"/>
    <p:sldId id="259" r:id="rId7"/>
    <p:sldId id="260" r:id="rId8"/>
    <p:sldId id="261" r:id="rId9"/>
    <p:sldId id="262" r:id="rId10"/>
    <p:sldId id="263" r:id="rId11"/>
    <p:sldId id="264" r:id="rId12"/>
    <p:sldId id="265" r:id="rId13"/>
    <p:sldId id="266" r:id="rId14"/>
    <p:sldId id="267" r:id="rId15"/>
    <p:sldId id="277" r:id="rId16"/>
    <p:sldId id="276" r:id="rId17"/>
    <p:sldId id="278" r:id="rId18"/>
    <p:sldId id="279" r:id="rId19"/>
    <p:sldId id="280" r:id="rId20"/>
    <p:sldId id="281" r:id="rId21"/>
    <p:sldId id="268" r:id="rId22"/>
    <p:sldId id="269" r:id="rId23"/>
    <p:sldId id="270" r:id="rId24"/>
    <p:sldId id="271" r:id="rId25"/>
    <p:sldId id="272" r:id="rId26"/>
    <p:sldId id="273"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4F82B12-4BA6-4075-9EF9-E05CBD4AD36A}" type="datetimeFigureOut">
              <a:rPr lang="en-US" smtClean="0"/>
              <a:pPr/>
              <a:t>3/1/2012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F82B12-4BA6-4075-9EF9-E05CBD4AD36A}" type="datetimeFigureOut">
              <a:rPr lang="en-US" smtClean="0"/>
              <a:pPr/>
              <a:t>3/1/2012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F82B12-4BA6-4075-9EF9-E05CBD4AD36A}" type="datetimeFigureOut">
              <a:rPr lang="en-US" smtClean="0"/>
              <a:pPr/>
              <a:t>3/1/2012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4F82B12-4BA6-4075-9EF9-E05CBD4AD36A}" type="datetimeFigureOut">
              <a:rPr lang="en-US" smtClean="0"/>
              <a:pPr/>
              <a:t>3/1/2012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4F82B12-4BA6-4075-9EF9-E05CBD4AD36A}" type="datetimeFigureOut">
              <a:rPr lang="en-US" smtClean="0"/>
              <a:pPr/>
              <a:t>3/1/2012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4F82B12-4BA6-4075-9EF9-E05CBD4AD36A}" type="datetimeFigureOut">
              <a:rPr lang="en-US" smtClean="0"/>
              <a:pPr/>
              <a:t>3/1/2012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F82B12-4BA6-4075-9EF9-E05CBD4AD36A}" type="datetimeFigureOut">
              <a:rPr lang="en-US" smtClean="0"/>
              <a:pPr/>
              <a:t>3/1/2012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F82B12-4BA6-4075-9EF9-E05CBD4AD36A}" type="datetimeFigureOut">
              <a:rPr lang="en-US" smtClean="0"/>
              <a:pPr/>
              <a:t>3/1/2012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F82B12-4BA6-4075-9EF9-E05CBD4AD36A}" type="datetimeFigureOut">
              <a:rPr lang="en-US" smtClean="0"/>
              <a:pPr/>
              <a:t>3/1/2012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F82B12-4BA6-4075-9EF9-E05CBD4AD36A}" type="datetimeFigureOut">
              <a:rPr lang="en-US" smtClean="0"/>
              <a:pPr/>
              <a:t>3/1/2012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F82B12-4BA6-4075-9EF9-E05CBD4AD36A}" type="datetimeFigureOut">
              <a:rPr lang="en-US" smtClean="0"/>
              <a:pPr/>
              <a:t>3/1/2012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B5CB9-3ECC-4026-BF23-515F1B413A8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C00000"/>
            </a:gs>
            <a:gs pos="50000">
              <a:schemeClr val="accent1">
                <a:tint val="44500"/>
                <a:satMod val="160000"/>
              </a:schemeClr>
            </a:gs>
            <a:gs pos="100000">
              <a:schemeClr val="accent1">
                <a:tint val="23500"/>
                <a:satMod val="16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F82B12-4BA6-4075-9EF9-E05CBD4AD36A}" type="datetimeFigureOut">
              <a:rPr lang="en-US" smtClean="0"/>
              <a:pPr/>
              <a:t>3/1/2012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B5CB9-3ECC-4026-BF23-515F1B413A8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mk:@MSITStore:C:\Documents%20and%20Settings\Dell\Desktop\optical%20communication\books\Cisco.Press.Optical.Network.Design.and.Implementation.eBook.chm::/1587051052/gloss01div14.html#gloss01div14entry1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SYNCHRONOUS </a:t>
            </a:r>
            <a:r>
              <a:rPr lang="en-US" smtClean="0"/>
              <a:t>DIGITAL HIERARCHY</a:t>
            </a:r>
            <a:endParaRPr lang="en-US" dirty="0"/>
          </a:p>
        </p:txBody>
      </p:sp>
      <p:sp>
        <p:nvSpPr>
          <p:cNvPr id="3" name="Subtitle 2"/>
          <p:cNvSpPr>
            <a:spLocks noGrp="1"/>
          </p:cNvSpPr>
          <p:nvPr>
            <p:ph type="subTitle" idx="1"/>
          </p:nvPr>
        </p:nvSpPr>
        <p:spPr/>
        <p:txBody>
          <a:bodyPr/>
          <a:lstStyle/>
          <a:p>
            <a:r>
              <a:rPr lang="en-US" smtClean="0"/>
              <a:t>A.SANGEETHA</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SDH line rates</a:t>
            </a:r>
            <a:endParaRPr lang="en-US" dirty="0"/>
          </a:p>
        </p:txBody>
      </p:sp>
      <p:pic>
        <p:nvPicPr>
          <p:cNvPr id="1026" name="Picture 2"/>
          <p:cNvPicPr>
            <a:picLocks noGrp="1" noChangeAspect="1" noChangeArrowheads="1"/>
          </p:cNvPicPr>
          <p:nvPr>
            <p:ph idx="1"/>
          </p:nvPr>
        </p:nvPicPr>
        <p:blipFill>
          <a:blip r:embed="rId2" cstate="print"/>
          <a:stretch>
            <a:fillRect/>
          </a:stretch>
        </p:blipFill>
        <p:spPr bwMode="auto">
          <a:xfrm>
            <a:off x="2166937" y="2305844"/>
            <a:ext cx="4810125" cy="3114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SDH LAYERS</a:t>
            </a:r>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0" y="1600200"/>
            <a:ext cx="8610600" cy="4648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SDH Multiplexing</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0" y="1447800"/>
            <a:ext cx="8915400" cy="518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SDH Multiplexing</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Multiplexing follows a rigid hierarchy in SDH. From an extremely high-level perspective, it is safe to say that low-level PDH signals are mapped to an SDH entity known as a container (C).</a:t>
            </a:r>
          </a:p>
          <a:p>
            <a:r>
              <a:rPr lang="en-US" dirty="0" smtClean="0"/>
              <a:t> The C is mapped along with POH bytes to form another entity known as a lower-order virtual container (VC). </a:t>
            </a:r>
          </a:p>
          <a:p>
            <a:r>
              <a:rPr lang="en-US" dirty="0" smtClean="0"/>
              <a:t>The lower-order VCs are aligned with tributary unit (TU) pointers to form entities known as tributary units (TUs). </a:t>
            </a:r>
          </a:p>
          <a:p>
            <a:r>
              <a:rPr lang="en-US" dirty="0" smtClean="0"/>
              <a:t>The TUs are multiplexed to form tributary unit groups (TUGs). The TUGs are further multiplexed to form higher-order VCs. </a:t>
            </a:r>
          </a:p>
          <a:p>
            <a:r>
              <a:rPr lang="en-US" dirty="0" smtClean="0"/>
              <a:t>These higher-order VCs are aligned with fixed stuff to form administration units (AUs). </a:t>
            </a:r>
          </a:p>
          <a:p>
            <a:r>
              <a:rPr lang="en-US" dirty="0" smtClean="0"/>
              <a:t>The AUs are further multiplexed to form administrative unit groups (AUGs).</a:t>
            </a:r>
          </a:p>
          <a:p>
            <a:r>
              <a:rPr lang="en-US" dirty="0" smtClean="0"/>
              <a:t> The AUGs are finally multiplexed along with RSOH and MSOH bytes to form the STM-N signal.</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multiplexing principles of SDH </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Mapping— A process used when tributaries are adapted into VCs by adding justification bits and POH information.</a:t>
            </a:r>
          </a:p>
          <a:p>
            <a:pPr>
              <a:buNone/>
            </a:pPr>
            <a:endParaRPr lang="en-US" dirty="0" smtClean="0"/>
          </a:p>
          <a:p>
            <a:r>
              <a:rPr lang="en-US" dirty="0" smtClean="0"/>
              <a:t>Aligning— This process takes place when a pointer is included in a TU or an AU, to allow the first byte of the VC to be located</a:t>
            </a:r>
          </a:p>
          <a:p>
            <a:endParaRPr lang="en-US" dirty="0" smtClean="0"/>
          </a:p>
          <a:p>
            <a:r>
              <a:rPr lang="en-US" dirty="0" smtClean="0"/>
              <a:t>Multiplexing— This process is used when multiple lower-order path layer signals are adapted into a higher-order path signal, or when the higher-order path signals are adapted into a multiplex section.</a:t>
            </a:r>
          </a:p>
          <a:p>
            <a:endParaRPr lang="en-US" dirty="0" smtClean="0"/>
          </a:p>
          <a:p>
            <a:r>
              <a:rPr lang="en-US" dirty="0" smtClean="0"/>
              <a:t>Stuffing— As the tributary signals are multiplexed and aligned, some spare capacity has been designed into the SDH frame to provide enough space for all the various tributary rates. Therefore, at certain points in the multiplexing hierarchy, this space capacity is filled with fixed stuffing bits that carry no information, but are required to fill up the particular frame.</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VC Levels</a:t>
            </a: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533400" y="1752600"/>
            <a:ext cx="7772399" cy="4648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SDH Framing</a:t>
            </a:r>
            <a:br>
              <a:rPr lang="en-US" b="1" dirty="0" smtClean="0"/>
            </a:br>
            <a:endParaRPr lang="en-US" dirty="0"/>
          </a:p>
        </p:txBody>
      </p:sp>
      <p:pic>
        <p:nvPicPr>
          <p:cNvPr id="3074" name="Picture 2"/>
          <p:cNvPicPr>
            <a:picLocks noGrp="1" noChangeAspect="1" noChangeArrowheads="1"/>
          </p:cNvPicPr>
          <p:nvPr>
            <p:ph idx="1"/>
          </p:nvPr>
        </p:nvPicPr>
        <p:blipFill>
          <a:blip r:embed="rId2" cstate="print"/>
          <a:stretch>
            <a:fillRect/>
          </a:stretch>
        </p:blipFill>
        <p:spPr bwMode="auto">
          <a:xfrm>
            <a:off x="650021" y="1600200"/>
            <a:ext cx="7843957" cy="4525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00800"/>
          </a:xfrm>
        </p:spPr>
        <p:txBody>
          <a:bodyPr>
            <a:normAutofit fontScale="70000" lnSpcReduction="20000"/>
          </a:bodyPr>
          <a:lstStyle/>
          <a:p>
            <a:r>
              <a:rPr lang="en-US" dirty="0" smtClean="0"/>
              <a:t>SDH adopts a frame rate of 8000 frames per second.</a:t>
            </a:r>
          </a:p>
          <a:p>
            <a:r>
              <a:rPr lang="en-US" dirty="0" smtClean="0"/>
              <a:t> The STM-1 frame is the basic transmission format for SDH. </a:t>
            </a:r>
          </a:p>
          <a:p>
            <a:r>
              <a:rPr lang="en-US" dirty="0" smtClean="0"/>
              <a:t>each two-dimensional frame has 9 rows and 270 columns of bytes with a total of 2430 bytes (9 rows * 270 columns = 2430 bytes). </a:t>
            </a:r>
          </a:p>
          <a:p>
            <a:r>
              <a:rPr lang="en-US" dirty="0" smtClean="0"/>
              <a:t>The STM-1 frame consists of an transport overhead plus a virtual container (VC-4) capacity. </a:t>
            </a:r>
          </a:p>
          <a:p>
            <a:r>
              <a:rPr lang="en-US" dirty="0" smtClean="0"/>
              <a:t>The first 9 columns of each frame make up the transport overhead, and the remaining 261 columns make up the virtual container (VC-4). The VC-4 plus the nine pointer bytes (H1 * 3, H2 * 3, H3 * 3) in row 4 is known as the administrative unit (AU-4). </a:t>
            </a:r>
          </a:p>
          <a:p>
            <a:r>
              <a:rPr lang="en-US" dirty="0" smtClean="0"/>
              <a:t>The first column of the VC-4 is the POH. Actually, the POH floats within the STM-1 frame and can occupy any column from column 10 to column 270 of the STM-1 frame.</a:t>
            </a:r>
          </a:p>
          <a:p>
            <a:r>
              <a:rPr lang="en-US" dirty="0" smtClean="0"/>
              <a:t> The STM-1 can accommodate a single VC-4 or three VC-3s. The AU-N pointer bytes indicate the position of the VC-4 POH or VC-3 POHs within the STM-1 frame. </a:t>
            </a:r>
          </a:p>
          <a:p>
            <a:r>
              <a:rPr lang="en-US" dirty="0" smtClean="0"/>
              <a:t>VCs can have any phase alignment within the AU, and this alignment is indicated by the AU pointer in row 4. Within the transport overhead, the first three rows are used for the RSOH, and the last five rows are used for the MSOH.</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dirty="0" smtClean="0"/>
              <a:t>The SDH line rate is synchronous and is flexible enough to support many different signals. The SDH STM-1 line rate of 155.520 Mbps can be computed as follows:</a:t>
            </a:r>
          </a:p>
          <a:p>
            <a:r>
              <a:rPr lang="en-US" dirty="0" smtClean="0"/>
              <a:t>Line rate = 270 columns * 9 rows * 8 bits/byte * 8000 frames/sec = 155.520 Mbps</a:t>
            </a:r>
          </a:p>
          <a:p>
            <a:r>
              <a:rPr lang="en-US" dirty="0" smtClean="0"/>
              <a:t>Columns 10 to 270 constitute the VC with the POH that provides a payload data rate of 150.336 Mbps. The actual data rate of the payload can be computed as follows:</a:t>
            </a:r>
          </a:p>
          <a:p>
            <a:r>
              <a:rPr lang="en-US" dirty="0" smtClean="0"/>
              <a:t>Data rate = 261 columns * 9 rows * 8 bits/byte * 8000 frames/sec = 150.336 Mbps</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0" y="304800"/>
            <a:ext cx="9144000" cy="640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Higher order framing</a:t>
            </a:r>
            <a:endParaRPr lang="en-US" dirty="0"/>
          </a:p>
        </p:txBody>
      </p:sp>
      <p:pic>
        <p:nvPicPr>
          <p:cNvPr id="5122" name="Picture 2"/>
          <p:cNvPicPr>
            <a:picLocks noGrp="1" noChangeAspect="1" noChangeArrowheads="1"/>
          </p:cNvPicPr>
          <p:nvPr>
            <p:ph idx="1"/>
          </p:nvPr>
        </p:nvPicPr>
        <p:blipFill>
          <a:blip r:embed="rId2" cstate="print"/>
          <a:stretch>
            <a:fillRect/>
          </a:stretch>
        </p:blipFill>
        <p:spPr bwMode="auto">
          <a:xfrm>
            <a:off x="957013" y="1600200"/>
            <a:ext cx="7229973" cy="4525963"/>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1+1 Protection</a:t>
            </a:r>
            <a:br>
              <a:rPr lang="en-US" b="1" dirty="0" smtClean="0"/>
            </a:br>
            <a:endParaRPr lang="en-US"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990600" y="1524000"/>
            <a:ext cx="6781800" cy="41148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1:1 and 1:N Protection</a:t>
            </a:r>
            <a:endParaRPr lang="en-US" dirty="0"/>
          </a:p>
        </p:txBody>
      </p:sp>
      <p:pic>
        <p:nvPicPr>
          <p:cNvPr id="7170" name="Picture 2"/>
          <p:cNvPicPr>
            <a:picLocks noGrp="1" noChangeAspect="1" noChangeArrowheads="1"/>
          </p:cNvPicPr>
          <p:nvPr>
            <p:ph idx="1"/>
          </p:nvPr>
        </p:nvPicPr>
        <p:blipFill>
          <a:blip r:embed="rId2" cstate="print"/>
          <a:stretch>
            <a:fillRect/>
          </a:stretch>
        </p:blipFill>
        <p:spPr bwMode="auto">
          <a:xfrm>
            <a:off x="2331424" y="1600200"/>
            <a:ext cx="4481151" cy="452596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Regenerator</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regenerator is an RSTE that regenerates attenuated signals. A regenerator or amplifier is needed when, due to the long distance between multiplexers, the signal level in the fiber gets attenuated and becomes too low to drive a receiver. The regenerator is sometimes called a </a:t>
            </a:r>
            <a:r>
              <a:rPr lang="en-US" i="1" dirty="0" smtClean="0">
                <a:hlinkClick r:id="rId2" action="ppaction://hlinkfile"/>
              </a:rPr>
              <a:t>repeater</a:t>
            </a:r>
            <a:r>
              <a:rPr lang="en-US" dirty="0" smtClean="0"/>
              <a:t>. Regenerators can be cascaded to extend the reach of the optical-fiber system. </a:t>
            </a:r>
          </a:p>
          <a:p>
            <a:r>
              <a:rPr lang="en-US" dirty="0" smtClean="0"/>
              <a:t>However, nonlinear impairments must be taken into consideration while cascading regenerators. </a:t>
            </a:r>
          </a:p>
          <a:p>
            <a:r>
              <a:rPr lang="en-US" dirty="0" smtClean="0"/>
              <a:t>The regenerator clocks itself off of the received signal and replaces the RSOH bytes before retransmitting the signal. The MSOH, POH, and payload are not altered.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SDH Terminal Multiplexer</a:t>
            </a:r>
            <a:endParaRPr lang="en-US" dirty="0"/>
          </a:p>
        </p:txBody>
      </p:sp>
      <p:pic>
        <p:nvPicPr>
          <p:cNvPr id="2050" name="Picture 2"/>
          <p:cNvPicPr>
            <a:picLocks noGrp="1" noChangeAspect="1" noChangeArrowheads="1"/>
          </p:cNvPicPr>
          <p:nvPr>
            <p:ph idx="1"/>
          </p:nvPr>
        </p:nvPicPr>
        <p:blipFill>
          <a:blip r:embed="rId2" cstate="print"/>
          <a:stretch>
            <a:fillRect/>
          </a:stretch>
        </p:blipFill>
        <p:spPr bwMode="auto">
          <a:xfrm>
            <a:off x="2214562" y="2182019"/>
            <a:ext cx="4714875" cy="336232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SDH ADM</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152400" y="1371600"/>
            <a:ext cx="8686800" cy="46482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Broadband Digital Cross-Connect</a:t>
            </a:r>
            <a:endParaRPr lang="en-US"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533400" y="1447800"/>
            <a:ext cx="7772400" cy="48768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smtClean="0"/>
              <a:t>Wideband </a:t>
            </a:r>
            <a:r>
              <a:rPr lang="en-US" b="1" dirty="0" smtClean="0"/>
              <a:t>Digital Cross-Connect</a:t>
            </a:r>
            <a:endParaRPr lang="en-US"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0" y="1676400"/>
            <a:ext cx="8763000" cy="47244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Digital Loop Carrier</a:t>
            </a:r>
            <a:endParaRPr lang="en-US"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381000" y="2057400"/>
            <a:ext cx="8001000" cy="373379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Two-Fiber SNCP</a:t>
            </a:r>
            <a:endParaRPr lang="en-US" dirty="0"/>
          </a:p>
        </p:txBody>
      </p:sp>
      <p:pic>
        <p:nvPicPr>
          <p:cNvPr id="8194" name="Picture 2"/>
          <p:cNvPicPr>
            <a:picLocks noGrp="1" noChangeAspect="1" noChangeArrowheads="1"/>
          </p:cNvPicPr>
          <p:nvPr>
            <p:ph idx="1"/>
          </p:nvPr>
        </p:nvPicPr>
        <p:blipFill>
          <a:blip r:embed="rId2" cstate="print"/>
          <a:srcRect/>
          <a:stretch>
            <a:fillRect/>
          </a:stretch>
        </p:blipFill>
        <p:spPr bwMode="auto">
          <a:xfrm>
            <a:off x="1219200" y="1447800"/>
            <a:ext cx="6629400" cy="5181599"/>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Fiber cut</a:t>
            </a:r>
            <a:endParaRPr lang="en-US" dirty="0"/>
          </a:p>
        </p:txBody>
      </p:sp>
      <p:pic>
        <p:nvPicPr>
          <p:cNvPr id="9218" name="Picture 2"/>
          <p:cNvPicPr>
            <a:picLocks noGrp="1" noChangeAspect="1" noChangeArrowheads="1"/>
          </p:cNvPicPr>
          <p:nvPr>
            <p:ph idx="1"/>
          </p:nvPr>
        </p:nvPicPr>
        <p:blipFill>
          <a:blip r:embed="rId2" cstate="print"/>
          <a:stretch>
            <a:fillRect/>
          </a:stretch>
        </p:blipFill>
        <p:spPr bwMode="auto">
          <a:xfrm>
            <a:off x="2214562" y="2129631"/>
            <a:ext cx="4714875" cy="34671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Multiplex Section-Shared Protection Rings</a:t>
            </a:r>
            <a:endParaRPr lang="en-US" dirty="0"/>
          </a:p>
        </p:txBody>
      </p:sp>
      <p:pic>
        <p:nvPicPr>
          <p:cNvPr id="10242" name="Picture 2"/>
          <p:cNvPicPr>
            <a:picLocks noGrp="1" noChangeAspect="1" noChangeArrowheads="1"/>
          </p:cNvPicPr>
          <p:nvPr>
            <p:ph idx="1"/>
          </p:nvPr>
        </p:nvPicPr>
        <p:blipFill>
          <a:blip r:embed="rId2" cstate="print"/>
          <a:stretch>
            <a:fillRect/>
          </a:stretch>
        </p:blipFill>
        <p:spPr bwMode="auto">
          <a:xfrm>
            <a:off x="2190750" y="1991519"/>
            <a:ext cx="4762500" cy="374332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Fiber cut</a:t>
            </a:r>
            <a:endParaRPr lang="en-US" dirty="0"/>
          </a:p>
        </p:txBody>
      </p:sp>
      <p:pic>
        <p:nvPicPr>
          <p:cNvPr id="11266" name="Picture 2"/>
          <p:cNvPicPr>
            <a:picLocks noGrp="1" noChangeAspect="1" noChangeArrowheads="1"/>
          </p:cNvPicPr>
          <p:nvPr>
            <p:ph idx="1"/>
          </p:nvPr>
        </p:nvPicPr>
        <p:blipFill>
          <a:blip r:embed="rId2" cstate="print"/>
          <a:stretch>
            <a:fillRect/>
          </a:stretch>
        </p:blipFill>
        <p:spPr bwMode="auto">
          <a:xfrm>
            <a:off x="2190750" y="1948656"/>
            <a:ext cx="4762500" cy="38290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 failure</a:t>
            </a:r>
            <a:endParaRPr lang="en-US" dirty="0"/>
          </a:p>
        </p:txBody>
      </p:sp>
      <p:pic>
        <p:nvPicPr>
          <p:cNvPr id="12290" name="Picture 2"/>
          <p:cNvPicPr>
            <a:picLocks noGrp="1" noChangeAspect="1" noChangeArrowheads="1"/>
          </p:cNvPicPr>
          <p:nvPr>
            <p:ph idx="1"/>
          </p:nvPr>
        </p:nvPicPr>
        <p:blipFill>
          <a:blip r:embed="rId2" cstate="print"/>
          <a:srcRect/>
          <a:stretch>
            <a:fillRect/>
          </a:stretch>
        </p:blipFill>
        <p:spPr bwMode="auto">
          <a:xfrm>
            <a:off x="457200" y="1371600"/>
            <a:ext cx="8077200" cy="4952999"/>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a:t>
            </a:r>
            <a:endParaRPr lang="en-US" dirty="0"/>
          </a:p>
        </p:txBody>
      </p:sp>
      <p:pic>
        <p:nvPicPr>
          <p:cNvPr id="13314" name="Picture 2"/>
          <p:cNvPicPr>
            <a:picLocks noChangeAspect="1" noChangeArrowheads="1"/>
          </p:cNvPicPr>
          <p:nvPr/>
        </p:nvPicPr>
        <p:blipFill>
          <a:blip r:embed="rId2" cstate="print"/>
          <a:srcRect/>
          <a:stretch>
            <a:fillRect/>
          </a:stretch>
        </p:blipFill>
        <p:spPr bwMode="auto">
          <a:xfrm>
            <a:off x="0" y="0"/>
            <a:ext cx="9525000" cy="6962775"/>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TotalTime>
  <Words>797</Words>
  <Application>Microsoft Office PowerPoint</Application>
  <PresentationFormat>On-screen Show (4:3)</PresentationFormat>
  <Paragraphs>53</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SYNCHRONOUS DIGITAL HIERARCHY</vt:lpstr>
      <vt:lpstr>SDH line rates</vt:lpstr>
      <vt:lpstr>SDH LAYERS</vt:lpstr>
      <vt:lpstr>SDH Multiplexing</vt:lpstr>
      <vt:lpstr>SDH Multiplexing </vt:lpstr>
      <vt:lpstr>multiplexing principles of SDH </vt:lpstr>
      <vt:lpstr>VC Levels</vt:lpstr>
      <vt:lpstr>SDH Framing </vt:lpstr>
      <vt:lpstr>Slide 9</vt:lpstr>
      <vt:lpstr>Slide 10</vt:lpstr>
      <vt:lpstr>Slide 11</vt:lpstr>
      <vt:lpstr>Higher order framing</vt:lpstr>
      <vt:lpstr>1+1 Protection </vt:lpstr>
      <vt:lpstr>1:1 and 1:N Protection</vt:lpstr>
      <vt:lpstr>Regenerator</vt:lpstr>
      <vt:lpstr>SDH Terminal Multiplexer</vt:lpstr>
      <vt:lpstr>SDH ADM</vt:lpstr>
      <vt:lpstr>Broadband Digital Cross-Connect</vt:lpstr>
      <vt:lpstr>Wideband Digital Cross-Connect</vt:lpstr>
      <vt:lpstr>Digital Loop Carrier</vt:lpstr>
      <vt:lpstr>Two-Fiber SNCP</vt:lpstr>
      <vt:lpstr>Fiber cut</vt:lpstr>
      <vt:lpstr>Multiplex Section-Shared Protection Rings</vt:lpstr>
      <vt:lpstr>Fiber cut</vt:lpstr>
      <vt:lpstr>Node failure</vt:lpstr>
      <vt:lpstr>Slide 26</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administrator</cp:lastModifiedBy>
  <cp:revision>12</cp:revision>
  <dcterms:created xsi:type="dcterms:W3CDTF">2012-02-28T05:40:14Z</dcterms:created>
  <dcterms:modified xsi:type="dcterms:W3CDTF">2012-03-01T10:39:58Z</dcterms:modified>
</cp:coreProperties>
</file>