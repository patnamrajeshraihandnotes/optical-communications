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57" r:id="rId5"/>
    <p:sldId id="259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5A3A8-5F50-468B-A1EE-7B1595FD61D4}" type="datetimeFigureOut">
              <a:rPr lang="en-US" smtClean="0"/>
              <a:pPr/>
              <a:t>3/5/2012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E5FCD-D48B-42E6-B624-22A23DA87E6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5A3A8-5F50-468B-A1EE-7B1595FD61D4}" type="datetimeFigureOut">
              <a:rPr lang="en-US" smtClean="0"/>
              <a:pPr/>
              <a:t>3/5/2012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E5FCD-D48B-42E6-B624-22A23DA87E6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5A3A8-5F50-468B-A1EE-7B1595FD61D4}" type="datetimeFigureOut">
              <a:rPr lang="en-US" smtClean="0"/>
              <a:pPr/>
              <a:t>3/5/2012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E5FCD-D48B-42E6-B624-22A23DA87E6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5A3A8-5F50-468B-A1EE-7B1595FD61D4}" type="datetimeFigureOut">
              <a:rPr lang="en-US" smtClean="0"/>
              <a:pPr/>
              <a:t>3/5/2012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E5FCD-D48B-42E6-B624-22A23DA87E6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5A3A8-5F50-468B-A1EE-7B1595FD61D4}" type="datetimeFigureOut">
              <a:rPr lang="en-US" smtClean="0"/>
              <a:pPr/>
              <a:t>3/5/2012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E5FCD-D48B-42E6-B624-22A23DA87E6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5A3A8-5F50-468B-A1EE-7B1595FD61D4}" type="datetimeFigureOut">
              <a:rPr lang="en-US" smtClean="0"/>
              <a:pPr/>
              <a:t>3/5/2012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E5FCD-D48B-42E6-B624-22A23DA87E6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5A3A8-5F50-468B-A1EE-7B1595FD61D4}" type="datetimeFigureOut">
              <a:rPr lang="en-US" smtClean="0"/>
              <a:pPr/>
              <a:t>3/5/2012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E5FCD-D48B-42E6-B624-22A23DA87E6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5A3A8-5F50-468B-A1EE-7B1595FD61D4}" type="datetimeFigureOut">
              <a:rPr lang="en-US" smtClean="0"/>
              <a:pPr/>
              <a:t>3/5/2012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E5FCD-D48B-42E6-B624-22A23DA87E6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5A3A8-5F50-468B-A1EE-7B1595FD61D4}" type="datetimeFigureOut">
              <a:rPr lang="en-US" smtClean="0"/>
              <a:pPr/>
              <a:t>3/5/2012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E5FCD-D48B-42E6-B624-22A23DA87E6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5A3A8-5F50-468B-A1EE-7B1595FD61D4}" type="datetimeFigureOut">
              <a:rPr lang="en-US" smtClean="0"/>
              <a:pPr/>
              <a:t>3/5/2012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E5FCD-D48B-42E6-B624-22A23DA87E6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75A3A8-5F50-468B-A1EE-7B1595FD61D4}" type="datetimeFigureOut">
              <a:rPr lang="en-US" smtClean="0"/>
              <a:pPr/>
              <a:t>3/5/2012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E5FCD-D48B-42E6-B624-22A23DA87E6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75A3A8-5F50-468B-A1EE-7B1595FD61D4}" type="datetimeFigureOut">
              <a:rPr lang="en-US" smtClean="0"/>
              <a:pPr/>
              <a:t>3/5/2012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9E5FCD-D48B-42E6-B624-22A23DA87E6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Comparison of PDH and SONET/SDH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i="1" dirty="0" err="1"/>
              <a:t>plesiochronous</a:t>
            </a:r>
            <a:r>
              <a:rPr lang="en-US" i="1" dirty="0"/>
              <a:t> digital hierarchy (</a:t>
            </a:r>
            <a:r>
              <a:rPr lang="en-US" i="1" dirty="0" smtClean="0"/>
              <a:t>PDH)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>
            <a:normAutofit fontScale="92500" lnSpcReduction="10000"/>
          </a:bodyPr>
          <a:lstStyle/>
          <a:p>
            <a:r>
              <a:rPr lang="en-US" i="1" dirty="0"/>
              <a:t>asynchronous </a:t>
            </a:r>
            <a:r>
              <a:rPr lang="en-US" i="1" dirty="0" smtClean="0"/>
              <a:t>digital </a:t>
            </a:r>
            <a:r>
              <a:rPr lang="en-US" dirty="0" smtClean="0"/>
              <a:t>hierarchy</a:t>
            </a:r>
          </a:p>
          <a:p>
            <a:r>
              <a:rPr lang="en-US" dirty="0" smtClean="0"/>
              <a:t>In asynchronous multiplexing, each terminal in the network runs its own clock, </a:t>
            </a:r>
            <a:r>
              <a:rPr lang="en-US" dirty="0"/>
              <a:t>when </a:t>
            </a:r>
            <a:r>
              <a:rPr lang="en-US" dirty="0" smtClean="0"/>
              <a:t>lower-speed streams </a:t>
            </a:r>
            <a:r>
              <a:rPr lang="en-US" dirty="0"/>
              <a:t>are multiplexed by interleaving their bits, extra bits may need to </a:t>
            </a:r>
            <a:r>
              <a:rPr lang="en-US" dirty="0" smtClean="0"/>
              <a:t>be stuffed </a:t>
            </a:r>
            <a:r>
              <a:rPr lang="en-US" dirty="0"/>
              <a:t>in the multiplexed stream to account for differences between the </a:t>
            </a:r>
            <a:r>
              <a:rPr lang="en-US" dirty="0" err="1" smtClean="0"/>
              <a:t>clockrates</a:t>
            </a:r>
            <a:r>
              <a:rPr lang="en-US" dirty="0" smtClean="0"/>
              <a:t> </a:t>
            </a:r>
            <a:r>
              <a:rPr lang="en-US" dirty="0"/>
              <a:t>of the individual streams. As a result, the bit rates in the asynchronous</a:t>
            </a:r>
          </a:p>
          <a:p>
            <a:pPr>
              <a:buNone/>
            </a:pPr>
            <a:r>
              <a:rPr lang="en-US" dirty="0"/>
              <a:t> </a:t>
            </a:r>
            <a:r>
              <a:rPr lang="en-US" dirty="0" smtClean="0"/>
              <a:t>   hierarchy </a:t>
            </a:r>
            <a:r>
              <a:rPr lang="en-US" dirty="0"/>
              <a:t>are not integral multiples of the basic 64 kb/s </a:t>
            </a:r>
            <a:r>
              <a:rPr lang="en-US" dirty="0" err="1" smtClean="0"/>
              <a:t>rate</a:t>
            </a:r>
            <a:r>
              <a:rPr lang="en-US" dirty="0" err="1"/>
              <a:t>but</a:t>
            </a:r>
            <a:r>
              <a:rPr lang="en-US" dirty="0"/>
              <a:t> rather </a:t>
            </a:r>
            <a:r>
              <a:rPr lang="en-US" dirty="0" smtClean="0"/>
              <a:t>slightly higher </a:t>
            </a:r>
            <a:r>
              <a:rPr lang="en-US" dirty="0"/>
              <a:t>to account for this bit stuffing.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i="1" dirty="0" smtClean="0"/>
              <a:t>asynchronous digital </a:t>
            </a:r>
            <a:r>
              <a:rPr lang="en-US" dirty="0" smtClean="0"/>
              <a:t>hierarchy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/>
              <a:t>With asynchronous multiplexing, it is very difficult to pick out a </a:t>
            </a:r>
            <a:r>
              <a:rPr lang="en-US" dirty="0" smtClean="0"/>
              <a:t>low-bit-rate stream</a:t>
            </a:r>
            <a:r>
              <a:rPr lang="en-US" dirty="0"/>
              <a:t>, say, at 64 kb/s, from a higher-speed stream passing through, say, a </a:t>
            </a:r>
            <a:r>
              <a:rPr lang="en-US" dirty="0" smtClean="0"/>
              <a:t>DS3 stream</a:t>
            </a:r>
            <a:r>
              <a:rPr lang="en-US" dirty="0"/>
              <a:t>, without completely </a:t>
            </a:r>
            <a:r>
              <a:rPr lang="en-US" dirty="0" err="1"/>
              <a:t>demultiplexing</a:t>
            </a:r>
            <a:r>
              <a:rPr lang="en-US" dirty="0"/>
              <a:t> the higher-speed stream down to </a:t>
            </a:r>
            <a:r>
              <a:rPr lang="en-US" dirty="0" smtClean="0"/>
              <a:t>its individual </a:t>
            </a:r>
            <a:r>
              <a:rPr lang="en-US" dirty="0"/>
              <a:t>component streams</a:t>
            </a:r>
            <a:r>
              <a:rPr lang="en-US" dirty="0" smtClean="0"/>
              <a:t>.</a:t>
            </a:r>
            <a:r>
              <a:rPr lang="en-US" dirty="0"/>
              <a:t> This results in the need for "multiplexer mountains</a:t>
            </a:r>
            <a:r>
              <a:rPr lang="en-US" dirty="0" smtClean="0"/>
              <a:t>,”    or </a:t>
            </a:r>
            <a:r>
              <a:rPr lang="en-US" dirty="0"/>
              <a:t>stacked-up multiplexers, each time a low-bit-rate stream needs to </a:t>
            </a:r>
            <a:r>
              <a:rPr lang="en-US" dirty="0" smtClean="0"/>
              <a:t>be extracted.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Management: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en-US" dirty="0"/>
              <a:t>The SONET and SDH standards incorporate extensive </a:t>
            </a:r>
            <a:r>
              <a:rPr lang="en-US" dirty="0" smtClean="0"/>
              <a:t>management information </a:t>
            </a:r>
            <a:r>
              <a:rPr lang="en-US" dirty="0"/>
              <a:t>for managing the network, including extensive performance</a:t>
            </a:r>
          </a:p>
          <a:p>
            <a:pPr algn="just">
              <a:buNone/>
            </a:pPr>
            <a:r>
              <a:rPr lang="en-US" dirty="0" smtClean="0"/>
              <a:t>   monitoring</a:t>
            </a:r>
            <a:r>
              <a:rPr lang="en-US" dirty="0"/>
              <a:t>, identification of connectivity and traffic type, identification and </a:t>
            </a:r>
            <a:r>
              <a:rPr lang="en-US" dirty="0" smtClean="0"/>
              <a:t>reporting of </a:t>
            </a:r>
            <a:r>
              <a:rPr lang="en-US" dirty="0"/>
              <a:t>failures, and a data communication channel for transporting </a:t>
            </a:r>
            <a:r>
              <a:rPr lang="en-US" dirty="0" smtClean="0"/>
              <a:t>management information </a:t>
            </a:r>
            <a:r>
              <a:rPr lang="en-US" dirty="0"/>
              <a:t>between the nodes. This is mostly lacking in the PDH</a:t>
            </a:r>
          </a:p>
          <a:p>
            <a:pPr algn="just">
              <a:buNone/>
            </a:pPr>
            <a:r>
              <a:rPr lang="en-US" dirty="0" smtClean="0"/>
              <a:t>    standards. 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Interoperability: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029200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dirty="0"/>
              <a:t>Although PDH defined multiplexing methods, it did not </a:t>
            </a:r>
            <a:r>
              <a:rPr lang="en-US" dirty="0" smtClean="0"/>
              <a:t>define  a </a:t>
            </a:r>
            <a:r>
              <a:rPr lang="en-US" dirty="0"/>
              <a:t>standard format on the transmission link. </a:t>
            </a:r>
            <a:endParaRPr lang="en-US" dirty="0" smtClean="0"/>
          </a:p>
          <a:p>
            <a:pPr algn="just"/>
            <a:r>
              <a:rPr lang="en-US" dirty="0" smtClean="0"/>
              <a:t>Thus </a:t>
            </a:r>
            <a:r>
              <a:rPr lang="en-US" dirty="0"/>
              <a:t>different vendors used </a:t>
            </a:r>
            <a:r>
              <a:rPr lang="en-US" dirty="0" err="1" smtClean="0"/>
              <a:t>differentline</a:t>
            </a:r>
            <a:r>
              <a:rPr lang="en-US" dirty="0" smtClean="0"/>
              <a:t> </a:t>
            </a:r>
            <a:r>
              <a:rPr lang="en-US" dirty="0"/>
              <a:t>coding, optical interfaces, and so forth to optimize their </a:t>
            </a:r>
            <a:r>
              <a:rPr lang="en-US" dirty="0" err="1" smtClean="0"/>
              <a:t>products,which</a:t>
            </a:r>
            <a:r>
              <a:rPr lang="en-US" dirty="0" smtClean="0"/>
              <a:t> </a:t>
            </a:r>
            <a:r>
              <a:rPr lang="en-US" dirty="0"/>
              <a:t>made it very difficult to connect one vendor's equipment to another's </a:t>
            </a:r>
            <a:r>
              <a:rPr lang="en-US" dirty="0" smtClean="0"/>
              <a:t>via a </a:t>
            </a:r>
            <a:r>
              <a:rPr lang="en-US" dirty="0"/>
              <a:t>transmission link. </a:t>
            </a:r>
            <a:endParaRPr lang="en-US" dirty="0" smtClean="0"/>
          </a:p>
          <a:p>
            <a:pPr algn="just"/>
            <a:r>
              <a:rPr lang="en-US" dirty="0" smtClean="0"/>
              <a:t>SONET </a:t>
            </a:r>
            <a:r>
              <a:rPr lang="en-US" dirty="0"/>
              <a:t>and SDH avoid this problem by defining </a:t>
            </a:r>
            <a:r>
              <a:rPr lang="en-US" dirty="0" smtClean="0"/>
              <a:t>standard optical </a:t>
            </a:r>
            <a:r>
              <a:rPr lang="en-US" dirty="0"/>
              <a:t>interfaces that enable interoperability between equipment from </a:t>
            </a:r>
            <a:r>
              <a:rPr lang="en-US" dirty="0" smtClean="0"/>
              <a:t>different vendors </a:t>
            </a:r>
            <a:r>
              <a:rPr lang="en-US" dirty="0"/>
              <a:t>on the link.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Network availability: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/>
              <a:t>The SONET and SDH standards have evolved to </a:t>
            </a:r>
            <a:r>
              <a:rPr lang="en-US" dirty="0" smtClean="0"/>
              <a:t>incorporate specific </a:t>
            </a:r>
            <a:r>
              <a:rPr lang="en-US" dirty="0"/>
              <a:t>network topologies and specific protection techniques and associated</a:t>
            </a:r>
          </a:p>
          <a:p>
            <a:pPr algn="just">
              <a:buNone/>
            </a:pPr>
            <a:r>
              <a:rPr lang="en-US" dirty="0" smtClean="0"/>
              <a:t>    protocols </a:t>
            </a:r>
            <a:r>
              <a:rPr lang="en-US" dirty="0"/>
              <a:t>to provide high-availability services.</a:t>
            </a:r>
            <a:endParaRPr lang="en-US" dirty="0" smtClean="0"/>
          </a:p>
          <a:p>
            <a:pPr algn="just"/>
            <a:r>
              <a:rPr lang="en-US" dirty="0" smtClean="0"/>
              <a:t>restoration time after a failure with SONET and SDH is much </a:t>
            </a:r>
            <a:r>
              <a:rPr lang="en-US" dirty="0" err="1" smtClean="0"/>
              <a:t>smallermless</a:t>
            </a:r>
            <a:r>
              <a:rPr lang="en-US" dirty="0" smtClean="0"/>
              <a:t> than 60 ms than the restoration time in PDH networks, which typically took several seconds to minutes.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286000" y="2690336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361</Words>
  <Application>Microsoft Office PowerPoint</Application>
  <PresentationFormat>On-screen Show (4:3)</PresentationFormat>
  <Paragraphs>20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Comparison of PDH and SONET/SDH</vt:lpstr>
      <vt:lpstr>plesiochronous digital hierarchy (PDH)</vt:lpstr>
      <vt:lpstr>asynchronous digital hierarchy </vt:lpstr>
      <vt:lpstr>Slide 4</vt:lpstr>
      <vt:lpstr>Management:</vt:lpstr>
      <vt:lpstr>Interoperability:</vt:lpstr>
      <vt:lpstr>Network availability:</vt:lpstr>
    </vt:vector>
  </TitlesOfParts>
  <Company> 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Comparison of PDH and SONET/SDH</dc:title>
  <dc:creator>administrator</dc:creator>
  <cp:lastModifiedBy>Himenkumar</cp:lastModifiedBy>
  <cp:revision>2</cp:revision>
  <dcterms:created xsi:type="dcterms:W3CDTF">2012-01-14T16:30:02Z</dcterms:created>
  <dcterms:modified xsi:type="dcterms:W3CDTF">2012-03-05T13:54:17Z</dcterms:modified>
</cp:coreProperties>
</file>