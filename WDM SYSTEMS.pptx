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8" r:id="rId5"/>
    <p:sldId id="259" r:id="rId6"/>
    <p:sldId id="261"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546"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4C1DC00-2C94-4B38-81EA-00CE00D53038}" type="datetimeFigureOut">
              <a:rPr lang="en-US" smtClean="0"/>
              <a:t>1/14/2012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72521E-3A21-4002-A8B6-3A5F724988C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4C1DC00-2C94-4B38-81EA-00CE00D53038}" type="datetimeFigureOut">
              <a:rPr lang="en-US" smtClean="0"/>
              <a:t>1/14/2012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72521E-3A21-4002-A8B6-3A5F724988C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4C1DC00-2C94-4B38-81EA-00CE00D53038}" type="datetimeFigureOut">
              <a:rPr lang="en-US" smtClean="0"/>
              <a:t>1/14/2012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72521E-3A21-4002-A8B6-3A5F724988C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4C1DC00-2C94-4B38-81EA-00CE00D53038}" type="datetimeFigureOut">
              <a:rPr lang="en-US" smtClean="0"/>
              <a:t>1/14/2012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72521E-3A21-4002-A8B6-3A5F724988C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4C1DC00-2C94-4B38-81EA-00CE00D53038}" type="datetimeFigureOut">
              <a:rPr lang="en-US" smtClean="0"/>
              <a:t>1/14/2012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E72521E-3A21-4002-A8B6-3A5F724988C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4C1DC00-2C94-4B38-81EA-00CE00D53038}" type="datetimeFigureOut">
              <a:rPr lang="en-US" smtClean="0"/>
              <a:t>1/14/2012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E72521E-3A21-4002-A8B6-3A5F724988C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C1DC00-2C94-4B38-81EA-00CE00D53038}" type="datetimeFigureOut">
              <a:rPr lang="en-US" smtClean="0"/>
              <a:t>1/14/2012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E72521E-3A21-4002-A8B6-3A5F724988C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4C1DC00-2C94-4B38-81EA-00CE00D53038}" type="datetimeFigureOut">
              <a:rPr lang="en-US" smtClean="0"/>
              <a:t>1/14/2012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72521E-3A21-4002-A8B6-3A5F724988C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4C1DC00-2C94-4B38-81EA-00CE00D53038}" type="datetimeFigureOut">
              <a:rPr lang="en-US" smtClean="0"/>
              <a:t>1/14/2012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72521E-3A21-4002-A8B6-3A5F724988C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4C1DC00-2C94-4B38-81EA-00CE00D53038}" type="datetimeFigureOut">
              <a:rPr lang="en-US" smtClean="0"/>
              <a:t>1/14/2012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72521E-3A21-4002-A8B6-3A5F724988C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4C1DC00-2C94-4B38-81EA-00CE00D53038}" type="datetimeFigureOut">
              <a:rPr lang="en-US" smtClean="0"/>
              <a:t>1/14/2012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72521E-3A21-4002-A8B6-3A5F724988C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C1DC00-2C94-4B38-81EA-00CE00D53038}" type="datetimeFigureOut">
              <a:rPr lang="en-US" smtClean="0"/>
              <a:t>1/14/2012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72521E-3A21-4002-A8B6-3A5F724988C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WDM SYSTEMS</a:t>
            </a:r>
            <a:endParaRPr lang="en-US"/>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t>Coarse Wavelength-Division Multiplexing</a:t>
            </a:r>
            <a:br>
              <a:rPr lang="en-US" sz="3600" b="1" dirty="0" smtClean="0"/>
            </a:br>
            <a:endParaRPr lang="en-US" sz="3600" dirty="0"/>
          </a:p>
        </p:txBody>
      </p:sp>
      <p:sp>
        <p:nvSpPr>
          <p:cNvPr id="3" name="Content Placeholder 2"/>
          <p:cNvSpPr>
            <a:spLocks noGrp="1"/>
          </p:cNvSpPr>
          <p:nvPr>
            <p:ph idx="1"/>
          </p:nvPr>
        </p:nvSpPr>
        <p:spPr>
          <a:xfrm>
            <a:off x="457200" y="838200"/>
            <a:ext cx="8229600" cy="5287963"/>
          </a:xfrm>
        </p:spPr>
        <p:txBody>
          <a:bodyPr>
            <a:noAutofit/>
          </a:bodyPr>
          <a:lstStyle/>
          <a:p>
            <a:r>
              <a:rPr lang="en-US" sz="2000" dirty="0" smtClean="0"/>
              <a:t>suited for the short-haul transport of data, voice, video, storage, and multimedia services. </a:t>
            </a:r>
          </a:p>
          <a:p>
            <a:r>
              <a:rPr lang="en-US" sz="2000" dirty="0" smtClean="0"/>
              <a:t>CWDM systems are ideally suited for fiber infrastructures with fiber spans that are 50 km or less and that don't need signal regeneration or the presence of optical amplifiers. </a:t>
            </a:r>
          </a:p>
          <a:p>
            <a:r>
              <a:rPr lang="en-US" sz="2000" dirty="0" smtClean="0"/>
              <a:t>The WDM laser bit rate directly determines the capacity of the wavelength and is responsible for converting the incoming electrical data signal into a wavelength.</a:t>
            </a:r>
          </a:p>
          <a:p>
            <a:r>
              <a:rPr lang="en-US" sz="2000" dirty="0" smtClean="0"/>
              <a:t>CWDM systems use lasers that have a bit rate of up to 2.5 </a:t>
            </a:r>
            <a:r>
              <a:rPr lang="en-US" sz="2000" dirty="0" err="1" smtClean="0"/>
              <a:t>Gbps</a:t>
            </a:r>
            <a:r>
              <a:rPr lang="en-US" sz="2000" dirty="0" smtClean="0"/>
              <a:t> (OC-48/STM-16) and can multiplex up to 18 wavelengths. This provides a maximum of 45 </a:t>
            </a:r>
            <a:r>
              <a:rPr lang="en-US" sz="2000" dirty="0" err="1" smtClean="0"/>
              <a:t>Gbps</a:t>
            </a:r>
            <a:r>
              <a:rPr lang="en-US" sz="2000" dirty="0" smtClean="0"/>
              <a:t> over a single fiber. CWDM systems are characterized by a channel spacing of 20 nm or 2500 GHz as specified by the ITU standard G.694.2. The CWDM grid is defined in terms of wavelength separation. This grid is made up of 18 wavelengths defined within the range 1270 nm to 1610 nm. </a:t>
            </a:r>
          </a:p>
          <a:p>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Coarse Wavelength-Division Multiplexing</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CWDM transceivers support the use of lower-cost distributed feedback (DFB) lasers that don't need any external cooling. These lasers are characterized with a drift of about 6 nm over a temperature range of 0 to 70 degrees Celsius. This, coupled with laser variations of up to +/–3 nm, yields a total wavelength variation of approximately 12 nm. The 20-nm channel spacing or guard-band between wavelengths provides adequate tolerance for the +/–12-nm wavelength drift. </a:t>
            </a:r>
          </a:p>
          <a:p>
            <a:r>
              <a:rPr lang="en-US" dirty="0" smtClean="0"/>
              <a:t>CWDM transceivers typically use highly sensitive avalanche photodiodes (APD) as receivers. CWDM gigabit interface converters (GBICs) support ITU standard G.694.2 wavelengths are increasingly being used with CWDM systems as a lower-cost alternative to conventional CWDM transceivers.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smtClean="0"/>
              <a:t>Dense Wavelength-Division Multiplexing</a:t>
            </a:r>
            <a:r>
              <a:rPr lang="en-US" b="1" dirty="0" smtClean="0"/>
              <a:t/>
            </a:r>
            <a:br>
              <a:rPr lang="en-US" b="1" dirty="0" smtClean="0"/>
            </a:br>
            <a:endParaRPr lang="en-US" dirty="0"/>
          </a:p>
        </p:txBody>
      </p:sp>
      <p:sp>
        <p:nvSpPr>
          <p:cNvPr id="3" name="Content Placeholder 2"/>
          <p:cNvSpPr>
            <a:spLocks noGrp="1"/>
          </p:cNvSpPr>
          <p:nvPr>
            <p:ph idx="1"/>
          </p:nvPr>
        </p:nvSpPr>
        <p:spPr>
          <a:xfrm>
            <a:off x="457200" y="990600"/>
            <a:ext cx="8229600" cy="5135563"/>
          </a:xfrm>
        </p:spPr>
        <p:txBody>
          <a:bodyPr>
            <a:normAutofit fontScale="77500" lnSpcReduction="20000"/>
          </a:bodyPr>
          <a:lstStyle/>
          <a:p>
            <a:r>
              <a:rPr lang="en-US" dirty="0" smtClean="0"/>
              <a:t>short-haul and the long-haul transport of data, voice, video, storage, and multimedia services.</a:t>
            </a:r>
          </a:p>
          <a:p>
            <a:r>
              <a:rPr lang="en-US" dirty="0" smtClean="0"/>
              <a:t>DWDM systems are ideally suited in the metro or long-haul core where capacity demands are extremely high. These higher-capacity demands result from the aggregation of services received from multiple customers at the enterprise edge.</a:t>
            </a:r>
          </a:p>
          <a:p>
            <a:r>
              <a:rPr lang="en-US" dirty="0" smtClean="0"/>
              <a:t> In such a case, the service provider is faced with the option of obtaining permits, retrenching, and installing new fiber versus obtaining DWDM equipment and lighting up wavelengths.</a:t>
            </a:r>
          </a:p>
          <a:p>
            <a:r>
              <a:rPr lang="en-US" dirty="0" smtClean="0"/>
              <a:t> If more than 18 wavelengths are required during the planned life cycle of the equipment to meet the future capacity expectations, a DWDM system should be considered versus a CWDM system.</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DWDM</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bit rate of up to 10 </a:t>
            </a:r>
            <a:r>
              <a:rPr lang="en-US" dirty="0" err="1" smtClean="0"/>
              <a:t>Gbps</a:t>
            </a:r>
            <a:r>
              <a:rPr lang="en-US" dirty="0" smtClean="0"/>
              <a:t> (OC-192/STM-64) and can multiplex up to 240 wavelengths. This provides a maximum of 2.4 </a:t>
            </a:r>
            <a:r>
              <a:rPr lang="en-US" dirty="0" err="1" smtClean="0"/>
              <a:t>Tbps</a:t>
            </a:r>
            <a:r>
              <a:rPr lang="en-US" dirty="0" smtClean="0"/>
              <a:t> over a single fiber. </a:t>
            </a:r>
          </a:p>
          <a:p>
            <a:r>
              <a:rPr lang="en-US" dirty="0" smtClean="0"/>
              <a:t>Newer DWDM systems will be able to support 40-Gbps wavelengths with up to 300 channels, resulting in 12 </a:t>
            </a:r>
            <a:r>
              <a:rPr lang="en-US" dirty="0" err="1" smtClean="0"/>
              <a:t>Tbps</a:t>
            </a:r>
            <a:r>
              <a:rPr lang="en-US" dirty="0" smtClean="0"/>
              <a:t> of bandwidth over a single fiber. </a:t>
            </a:r>
          </a:p>
          <a:p>
            <a:r>
              <a:rPr lang="en-US" dirty="0" smtClean="0"/>
              <a:t>DWDM transceivers consume more power and dissipate much more heat than CWDM transceivers. This creates a requirement for DWDM cooling subsystems.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DWDM</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DWDM systems are characterized by channel spacing of 50 or 100 GHz. The ITU DWDM frequency grid is anchored to 193.1 THz. </a:t>
            </a:r>
          </a:p>
          <a:p>
            <a:r>
              <a:rPr lang="en-US" dirty="0" smtClean="0"/>
              <a:t>DWDM systems have a significantly finer granularity between wavelengths (100-GHz typical spacing) versus their CWDM counterparts. ITU grid DWDM products operate in the C-band between 1530 and 1565 nm or L-band between 1565 and 1625 nm.</a:t>
            </a:r>
          </a:p>
          <a:p>
            <a:r>
              <a:rPr lang="en-US" dirty="0" smtClean="0"/>
              <a:t> It must be noted that not all fiber plants deployed in the past can be used for DWDM transmission, because most DWDM equipment currently uses the C-band or L-band window. Legacy fiber was optimized for transmission in the O-band (1310-nm band) window.</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613</Words>
  <Application>Microsoft Office PowerPoint</Application>
  <PresentationFormat>On-screen Show (4:3)</PresentationFormat>
  <Paragraphs>22</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WDM SYSTEMS</vt:lpstr>
      <vt:lpstr>Coarse Wavelength-Division Multiplexing </vt:lpstr>
      <vt:lpstr>Coarse Wavelength-Division Multiplexing</vt:lpstr>
      <vt:lpstr>Dense Wavelength-Division Multiplexing </vt:lpstr>
      <vt:lpstr>DWDM</vt:lpstr>
      <vt:lpstr>DWDM</vt:lpstr>
    </vt:vector>
  </TitlesOfParts>
  <Company>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WDM SYSTEMS</dc:title>
  <dc:creator>administrator</dc:creator>
  <cp:lastModifiedBy>administrator</cp:lastModifiedBy>
  <cp:revision>1</cp:revision>
  <dcterms:created xsi:type="dcterms:W3CDTF">2012-01-14T16:49:40Z</dcterms:created>
  <dcterms:modified xsi:type="dcterms:W3CDTF">2012-01-14T16:58:49Z</dcterms:modified>
</cp:coreProperties>
</file>