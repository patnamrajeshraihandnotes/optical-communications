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79" r:id="rId3"/>
    <p:sldId id="287" r:id="rId4"/>
    <p:sldId id="288" r:id="rId5"/>
    <p:sldId id="286" r:id="rId6"/>
    <p:sldId id="285"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6" r:id="rId26"/>
    <p:sldId id="277" r:id="rId27"/>
    <p:sldId id="278" r:id="rId28"/>
    <p:sldId id="280" r:id="rId29"/>
    <p:sldId id="281" r:id="rId30"/>
    <p:sldId id="282" r:id="rId31"/>
    <p:sldId id="283" r:id="rId32"/>
    <p:sldId id="284"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86977B-0550-4F25-8948-BDF9B7DDF3DA}" type="datetimeFigureOut">
              <a:rPr lang="en-US" smtClean="0"/>
              <a:t>10/10/2010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E24CC5-61E2-4D16-8708-FE2623E597B6}"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1E24CC5-61E2-4D16-8708-FE2623E597B6}" type="slidenum">
              <a:rPr lang="en-US" smtClean="0"/>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1E24CC5-61E2-4D16-8708-FE2623E597B6}" type="slidenum">
              <a:rPr lang="en-US" smtClean="0"/>
              <a:t>11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1E24CC5-61E2-4D16-8708-FE2623E597B6}" type="slidenum">
              <a:rPr lang="en-US" smtClean="0"/>
              <a:t>23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9C16C6-624A-4F23-A416-4AEB18DA6367}" type="datetimeFigureOut">
              <a:rPr lang="en-US" smtClean="0"/>
              <a:t>10/10/2010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74DB2E-773D-40F5-8876-0EF91A1C663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9C16C6-624A-4F23-A416-4AEB18DA6367}" type="datetimeFigureOut">
              <a:rPr lang="en-US" smtClean="0"/>
              <a:t>10/10/2010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74DB2E-773D-40F5-8876-0EF91A1C663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WDM</a:t>
            </a:r>
            <a:endParaRPr lang="en-US" dirty="0"/>
          </a:p>
        </p:txBody>
      </p:sp>
      <p:sp>
        <p:nvSpPr>
          <p:cNvPr id="3" name="Subtitle 2"/>
          <p:cNvSpPr>
            <a:spLocks noGrp="1"/>
          </p:cNvSpPr>
          <p:nvPr>
            <p:ph type="subTitle" idx="1"/>
          </p:nvPr>
        </p:nvSpPr>
        <p:spPr>
          <a:xfrm>
            <a:off x="1676400" y="0"/>
            <a:ext cx="6400800" cy="1143000"/>
          </a:xfrm>
        </p:spPr>
        <p:txBody>
          <a:bodyPr/>
          <a:lstStyle/>
          <a:p>
            <a:r>
              <a:rPr lang="en-US" dirty="0" smtClean="0"/>
              <a:t>WDM SYSTEM</a:t>
            </a:r>
            <a:endParaRPr lang="en-US" dirty="0"/>
          </a:p>
        </p:txBody>
      </p:sp>
      <p:pic>
        <p:nvPicPr>
          <p:cNvPr id="14338" name="Picture 2" descr="C:\Documents and Settings\admin\My Documents\My Pictures\untitled.bmp"/>
          <p:cNvPicPr>
            <a:picLocks noChangeAspect="1" noChangeArrowheads="1"/>
          </p:cNvPicPr>
          <p:nvPr/>
        </p:nvPicPr>
        <p:blipFill>
          <a:blip r:embed="rId2"/>
          <a:srcRect/>
          <a:stretch>
            <a:fillRect/>
          </a:stretch>
        </p:blipFill>
        <p:spPr bwMode="auto">
          <a:xfrm>
            <a:off x="2057400" y="1143000"/>
            <a:ext cx="4876800" cy="444817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WDM SYSTEMS</a:t>
            </a:r>
            <a:endParaRPr lang="en-US" dirty="0"/>
          </a:p>
        </p:txBody>
      </p:sp>
      <p:sp>
        <p:nvSpPr>
          <p:cNvPr id="3" name="Content Placeholder 2"/>
          <p:cNvSpPr>
            <a:spLocks noGrp="1"/>
          </p:cNvSpPr>
          <p:nvPr>
            <p:ph idx="1"/>
          </p:nvPr>
        </p:nvSpPr>
        <p:spPr>
          <a:xfrm>
            <a:off x="609600" y="2209800"/>
            <a:ext cx="7924800" cy="3535363"/>
          </a:xfrm>
        </p:spPr>
        <p:txBody>
          <a:bodyPr>
            <a:normAutofit fontScale="92500" lnSpcReduction="10000"/>
          </a:bodyPr>
          <a:lstStyle/>
          <a:p>
            <a:pPr>
              <a:buNone/>
            </a:pPr>
            <a:r>
              <a:rPr lang="en-US" dirty="0" smtClean="0"/>
              <a:t>Four kinds of WDM systems are available:</a:t>
            </a:r>
          </a:p>
          <a:p>
            <a:pPr marL="514350" indent="-514350">
              <a:buFont typeface="+mj-lt"/>
              <a:buAutoNum type="arabicPeriod"/>
            </a:pPr>
            <a:r>
              <a:rPr lang="en-US" dirty="0" smtClean="0"/>
              <a:t>Metro WDM (&lt;200 km)</a:t>
            </a:r>
          </a:p>
          <a:p>
            <a:pPr marL="514350" indent="-514350">
              <a:buFont typeface="+mj-lt"/>
              <a:buAutoNum type="arabicPeriod"/>
            </a:pPr>
            <a:r>
              <a:rPr lang="en-US" dirty="0" smtClean="0"/>
              <a:t>Long-haul or regional WDM (200 km to 800 km)</a:t>
            </a:r>
          </a:p>
          <a:p>
            <a:pPr marL="514350" indent="-514350">
              <a:buFont typeface="+mj-lt"/>
              <a:buAutoNum type="arabicPeriod"/>
            </a:pPr>
            <a:r>
              <a:rPr lang="en-US" dirty="0" smtClean="0"/>
              <a:t>Extended long-haul WDM (800 km to 2000 km)</a:t>
            </a:r>
          </a:p>
          <a:p>
            <a:pPr marL="514350" indent="-514350">
              <a:buFont typeface="+mj-lt"/>
              <a:buAutoNum type="arabicPeriod"/>
            </a:pPr>
            <a:r>
              <a:rPr lang="en-US" dirty="0" smtClean="0"/>
              <a:t>Ultra-long-haul WDM (&gt;2000 km)</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Coarse Wavelength-Division Multiplexing</a:t>
            </a:r>
            <a:endParaRPr lang="en-US" dirty="0"/>
          </a:p>
        </p:txBody>
      </p:sp>
      <p:sp>
        <p:nvSpPr>
          <p:cNvPr id="3" name="Content Placeholder 2"/>
          <p:cNvSpPr>
            <a:spLocks noGrp="1"/>
          </p:cNvSpPr>
          <p:nvPr>
            <p:ph idx="1"/>
          </p:nvPr>
        </p:nvSpPr>
        <p:spPr/>
        <p:txBody>
          <a:bodyPr>
            <a:normAutofit lnSpcReduction="10000"/>
          </a:bodyPr>
          <a:lstStyle/>
          <a:p>
            <a:r>
              <a:rPr lang="en-US" dirty="0" smtClean="0"/>
              <a:t>the short-haul transport of data, voice, video, storage, and multimedia services</a:t>
            </a:r>
          </a:p>
          <a:p>
            <a:r>
              <a:rPr lang="en-US" dirty="0" smtClean="0"/>
              <a:t>CWDM systems use lasers that have a bit rate of up to 2.5 </a:t>
            </a:r>
            <a:r>
              <a:rPr lang="en-US" dirty="0" err="1" smtClean="0"/>
              <a:t>Gbps</a:t>
            </a:r>
            <a:r>
              <a:rPr lang="en-US" dirty="0" smtClean="0"/>
              <a:t> (OC-48/STM-16) and can multiplex up to 18 wavelengths. This provides a maximum of 45 </a:t>
            </a:r>
            <a:r>
              <a:rPr lang="en-US" dirty="0" err="1" smtClean="0"/>
              <a:t>Gbps</a:t>
            </a:r>
            <a:r>
              <a:rPr lang="en-US" dirty="0" smtClean="0"/>
              <a:t> over a single fiber.</a:t>
            </a:r>
          </a:p>
          <a:p>
            <a:r>
              <a:rPr lang="en-US" dirty="0" smtClean="0"/>
              <a:t>channel spacing of 20 nm or 2500 GHz as specified by the ITU standard G.694.2(</a:t>
            </a:r>
            <a:r>
              <a:rPr lang="pl-PL" dirty="0" smtClean="0"/>
              <a:t> 1270 nm to 1610 nm</a:t>
            </a:r>
            <a:r>
              <a:rPr lang="en-US" dirty="0" smtClean="0"/>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Dense Wavelength-Division Multiplexing</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metro or long-haul core where capacity demands are extremely high.</a:t>
            </a:r>
          </a:p>
          <a:p>
            <a:r>
              <a:rPr lang="en-US" dirty="0" smtClean="0"/>
              <a:t>Typical DWDM systems use lasers that have a bit rate of up to 10 </a:t>
            </a:r>
            <a:r>
              <a:rPr lang="en-US" dirty="0" err="1" smtClean="0"/>
              <a:t>Gbps</a:t>
            </a:r>
            <a:r>
              <a:rPr lang="en-US" dirty="0" smtClean="0"/>
              <a:t> (OC-192/STM-64) and can multiplex up to 240 wavelengths. This provides a maximum of 2.4 </a:t>
            </a:r>
            <a:r>
              <a:rPr lang="en-US" dirty="0" err="1" smtClean="0"/>
              <a:t>Tbps</a:t>
            </a:r>
            <a:r>
              <a:rPr lang="en-US" dirty="0" smtClean="0"/>
              <a:t> over a single fiber.</a:t>
            </a:r>
          </a:p>
          <a:p>
            <a:r>
              <a:rPr lang="en-US" dirty="0" smtClean="0"/>
              <a:t>use 100-GHz or 200-GHz frequency spacing</a:t>
            </a:r>
          </a:p>
          <a:p>
            <a:r>
              <a:rPr lang="en-US" smtClean="0"/>
              <a:t>ITU grid DWDM products operate in the C-band between 1530 and 1565 nm or L-band between 1565 and 1625 nm</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Band-Separation Method</a:t>
            </a:r>
          </a:p>
          <a:p>
            <a:r>
              <a:rPr lang="en-US" b="1" dirty="0" smtClean="0"/>
              <a:t>Interleaving-Filter Method</a:t>
            </a:r>
          </a:p>
          <a:p>
            <a:r>
              <a:rPr lang="en-US" b="1" dirty="0" smtClean="0"/>
              <a:t>Circulator Method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optical frequency bands used with various WDM systems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O-band (original)— A range from 1260 nm to 1360 nm</a:t>
            </a:r>
          </a:p>
          <a:p>
            <a:r>
              <a:rPr lang="en-US" dirty="0" smtClean="0"/>
              <a:t>E-band (extended)— A range from 1360 nm to 1460 nm</a:t>
            </a:r>
          </a:p>
          <a:p>
            <a:r>
              <a:rPr lang="en-US" dirty="0" smtClean="0"/>
              <a:t>S-band (short wavelength)— A range from 1460 nm to 1530 nm</a:t>
            </a:r>
          </a:p>
          <a:p>
            <a:r>
              <a:rPr lang="en-US" dirty="0" smtClean="0"/>
              <a:t>C-band (conventional)— A range from 1530 nm to 1565 nm</a:t>
            </a:r>
          </a:p>
          <a:p>
            <a:r>
              <a:rPr lang="en-US" dirty="0" smtClean="0"/>
              <a:t>L-band (long wavelength)— A range from 1565 nm to 1625 nm</a:t>
            </a:r>
          </a:p>
          <a:p>
            <a:r>
              <a:rPr lang="en-US" dirty="0" smtClean="0"/>
              <a:t>U-band (ultra-long wavelength)— A range from 1625 nm to 1675 nm</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WDM COMPONENTS</a:t>
            </a:r>
            <a:endParaRPr lang="en-US" dirty="0"/>
          </a:p>
        </p:txBody>
      </p:sp>
      <p:sp>
        <p:nvSpPr>
          <p:cNvPr id="3" name="Content Placeholder 2"/>
          <p:cNvSpPr>
            <a:spLocks noGrp="1"/>
          </p:cNvSpPr>
          <p:nvPr>
            <p:ph idx="1"/>
          </p:nvPr>
        </p:nvSpPr>
        <p:spPr/>
        <p:txBody>
          <a:bodyPr/>
          <a:lstStyle/>
          <a:p>
            <a:r>
              <a:rPr lang="en-US" dirty="0" smtClean="0"/>
              <a:t>WDM optical networks consist of five main components:</a:t>
            </a:r>
          </a:p>
          <a:p>
            <a:r>
              <a:rPr lang="en-US" dirty="0" smtClean="0"/>
              <a:t>Transmitters</a:t>
            </a:r>
          </a:p>
          <a:p>
            <a:r>
              <a:rPr lang="en-US" dirty="0" smtClean="0"/>
              <a:t>Optical multiplexers and </a:t>
            </a:r>
            <a:r>
              <a:rPr lang="en-US" dirty="0" err="1" smtClean="0"/>
              <a:t>demultiplexers</a:t>
            </a:r>
            <a:endParaRPr lang="en-US" dirty="0" smtClean="0"/>
          </a:p>
          <a:p>
            <a:r>
              <a:rPr lang="en-US" dirty="0" smtClean="0"/>
              <a:t>Amplifiers</a:t>
            </a:r>
          </a:p>
          <a:p>
            <a:r>
              <a:rPr lang="en-US" dirty="0" smtClean="0"/>
              <a:t>Optical-fiber media</a:t>
            </a:r>
          </a:p>
          <a:p>
            <a:r>
              <a:rPr lang="en-US" dirty="0" smtClean="0"/>
              <a:t>Receivers</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4000" b="1" dirty="0" smtClean="0"/>
              <a:t>Distributed Feedback Lasers</a:t>
            </a:r>
            <a:r>
              <a:rPr lang="en-US" dirty="0" smtClean="0"/>
              <a:t/>
            </a:r>
            <a:br>
              <a:rPr lang="en-US" dirty="0" smtClean="0"/>
            </a:br>
            <a:r>
              <a:rPr lang="en-US" sz="2200" dirty="0" smtClean="0"/>
              <a:t>(1</a:t>
            </a:r>
            <a:r>
              <a:rPr lang="en-US" sz="2200" baseline="30000" dirty="0" smtClean="0"/>
              <a:t>st</a:t>
            </a:r>
            <a:r>
              <a:rPr lang="en-US" sz="2200" dirty="0" smtClean="0"/>
              <a:t> generation)</a:t>
            </a:r>
            <a:r>
              <a:rPr lang="en-US" sz="2200" dirty="0" smtClean="0"/>
              <a:t> Arrayed DFB-1 to 10 milliseconds (ms) of tuning time</a:t>
            </a:r>
            <a:endParaRPr lang="en-US" sz="2200" dirty="0"/>
          </a:p>
        </p:txBody>
      </p:sp>
      <p:sp>
        <p:nvSpPr>
          <p:cNvPr id="3" name="Content Placeholder 2"/>
          <p:cNvSpPr>
            <a:spLocks noGrp="1"/>
          </p:cNvSpPr>
          <p:nvPr>
            <p:ph idx="1"/>
          </p:nvPr>
        </p:nvSpPr>
        <p:spPr/>
        <p:txBody>
          <a:bodyPr>
            <a:normAutofit fontScale="92500" lnSpcReduction="20000"/>
          </a:bodyPr>
          <a:lstStyle/>
          <a:p>
            <a:r>
              <a:rPr lang="en-US" dirty="0" smtClean="0"/>
              <a:t>DFB lasers are edge emitting lasers currently used for both CWDM and DWDM </a:t>
            </a:r>
          </a:p>
          <a:p>
            <a:r>
              <a:rPr lang="en-US" dirty="0" smtClean="0"/>
              <a:t>DFB lasers are edge emitting lasers currently used for both CWDM and DWDM</a:t>
            </a:r>
          </a:p>
          <a:p>
            <a:r>
              <a:rPr lang="en-US" dirty="0" smtClean="0"/>
              <a:t>Temperature effects:</a:t>
            </a:r>
          </a:p>
          <a:p>
            <a:pPr>
              <a:buNone/>
            </a:pPr>
            <a:r>
              <a:rPr lang="en-US" dirty="0" smtClean="0"/>
              <a:t>CWDM-No cooling</a:t>
            </a:r>
          </a:p>
          <a:p>
            <a:pPr>
              <a:buNone/>
            </a:pPr>
            <a:r>
              <a:rPr lang="en-US" dirty="0" smtClean="0"/>
              <a:t>DWDM-COOLING REQUIRED</a:t>
            </a:r>
          </a:p>
          <a:p>
            <a:pPr>
              <a:buNone/>
            </a:pPr>
            <a:r>
              <a:rPr lang="en-US" dirty="0" err="1" smtClean="0"/>
              <a:t>thermistor</a:t>
            </a:r>
            <a:r>
              <a:rPr lang="en-US" dirty="0" smtClean="0"/>
              <a:t> - coarse temperature control</a:t>
            </a:r>
          </a:p>
          <a:p>
            <a:pPr>
              <a:buNone/>
            </a:pPr>
            <a:r>
              <a:rPr lang="en-US" dirty="0" smtClean="0"/>
              <a:t>external wavelength locker -for finer wavelength control</a:t>
            </a:r>
          </a:p>
          <a:p>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Distributed Bragg Reflector Lasers</a:t>
            </a:r>
            <a:br>
              <a:rPr lang="en-US" b="1" dirty="0" smtClean="0"/>
            </a:br>
            <a:r>
              <a:rPr lang="en-US" b="1" dirty="0" smtClean="0"/>
              <a:t>(1</a:t>
            </a:r>
            <a:r>
              <a:rPr lang="en-US" b="1" baseline="30000" dirty="0" smtClean="0"/>
              <a:t>st</a:t>
            </a:r>
            <a:r>
              <a:rPr lang="en-US" b="1" dirty="0" smtClean="0"/>
              <a:t> generation)</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r>
              <a:rPr lang="en-US" dirty="0" smtClean="0"/>
              <a:t>The change of </a:t>
            </a:r>
            <a:r>
              <a:rPr lang="en-US" b="1" dirty="0" smtClean="0"/>
              <a:t>current</a:t>
            </a:r>
            <a:r>
              <a:rPr lang="en-US" dirty="0" smtClean="0"/>
              <a:t> over the grating also changes the Bragg's wavelength and the associated feedback.</a:t>
            </a:r>
          </a:p>
          <a:p>
            <a:r>
              <a:rPr lang="en-US" dirty="0" smtClean="0"/>
              <a:t>DBR and DFB lasers are temperature dependent and need temperature-controlling elements for stable uniform operations. </a:t>
            </a:r>
          </a:p>
          <a:p>
            <a:r>
              <a:rPr lang="en-US" dirty="0" smtClean="0"/>
              <a:t>The temperature-controlling elements add a significant cost to the laser transmitters used in C-band applications.</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Mechanical Tunable Lasers</a:t>
            </a:r>
            <a:br>
              <a:rPr lang="en-US" b="1" dirty="0" smtClean="0"/>
            </a:b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267200" y="762000"/>
            <a:ext cx="3886200" cy="1905000"/>
          </a:xfrm>
          <a:prstGeom prst="rect">
            <a:avLst/>
          </a:prstGeom>
          <a:noFill/>
          <a:ln w="9525">
            <a:noFill/>
            <a:miter lim="800000"/>
            <a:headEnd/>
            <a:tailEnd/>
          </a:ln>
          <a:effectLst/>
        </p:spPr>
      </p:pic>
      <p:sp>
        <p:nvSpPr>
          <p:cNvPr id="5" name="Rectangle 4"/>
          <p:cNvSpPr/>
          <p:nvPr/>
        </p:nvSpPr>
        <p:spPr>
          <a:xfrm>
            <a:off x="381000" y="2590800"/>
            <a:ext cx="8229600" cy="3539430"/>
          </a:xfrm>
          <a:prstGeom prst="rect">
            <a:avLst/>
          </a:prstGeom>
        </p:spPr>
        <p:txBody>
          <a:bodyPr wrap="square">
            <a:spAutoFit/>
          </a:bodyPr>
          <a:lstStyle/>
          <a:p>
            <a:pPr>
              <a:buFont typeface="Arial" pitchFamily="34" charset="0"/>
              <a:buChar char="•"/>
            </a:pPr>
            <a:r>
              <a:rPr lang="en-US" sz="2800" dirty="0" smtClean="0"/>
              <a:t>MEMS actuators can physically vary the length between the cavity walls resulting in a variation of the output wavelength. </a:t>
            </a:r>
          </a:p>
          <a:p>
            <a:pPr>
              <a:buFont typeface="Arial" pitchFamily="34" charset="0"/>
              <a:buChar char="•"/>
            </a:pPr>
            <a:r>
              <a:rPr lang="en-US" sz="2800" dirty="0" smtClean="0"/>
              <a:t>The physical distance between cavity walls is carefully calibrated to emitted ITU-T wavelengths. </a:t>
            </a:r>
          </a:p>
          <a:p>
            <a:pPr>
              <a:buFont typeface="Arial" pitchFamily="34" charset="0"/>
              <a:buChar char="•"/>
            </a:pPr>
            <a:r>
              <a:rPr lang="en-US" sz="2800" dirty="0" smtClean="0"/>
              <a:t>Mechanical lasers have a tuning range of 10 to 20 nm and require 100 to 500 ms of tuning time</a:t>
            </a:r>
          </a:p>
          <a:p>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r>
              <a:rPr lang="en-US" b="1" dirty="0" smtClean="0"/>
              <a:t>External Cavity Tunable Lasers</a:t>
            </a:r>
            <a:endParaRPr lang="en-US" dirty="0"/>
          </a:p>
        </p:txBody>
      </p:sp>
      <p:pic>
        <p:nvPicPr>
          <p:cNvPr id="2050" name="Picture 2" descr="C:\Documents and Settings\admin\My Documents\My Pictures\untitled.bmp"/>
          <p:cNvPicPr>
            <a:picLocks noGrp="1" noChangeAspect="1" noChangeArrowheads="1"/>
          </p:cNvPicPr>
          <p:nvPr>
            <p:ph idx="1"/>
          </p:nvPr>
        </p:nvPicPr>
        <p:blipFill>
          <a:blip r:embed="rId3"/>
          <a:srcRect/>
          <a:stretch>
            <a:fillRect/>
          </a:stretch>
        </p:blipFill>
        <p:spPr bwMode="auto">
          <a:xfrm>
            <a:off x="457200" y="2283098"/>
            <a:ext cx="8229600" cy="3050902"/>
          </a:xfrm>
          <a:prstGeom prst="rect">
            <a:avLst/>
          </a:prstGeom>
          <a:noFill/>
        </p:spPr>
      </p:pic>
      <p:sp>
        <p:nvSpPr>
          <p:cNvPr id="5" name="Rectangle 4"/>
          <p:cNvSpPr/>
          <p:nvPr/>
        </p:nvSpPr>
        <p:spPr>
          <a:xfrm>
            <a:off x="2362200" y="1219200"/>
            <a:ext cx="2859501" cy="369332"/>
          </a:xfrm>
          <a:prstGeom prst="rect">
            <a:avLst/>
          </a:prstGeom>
        </p:spPr>
        <p:txBody>
          <a:bodyPr wrap="none">
            <a:spAutoFit/>
          </a:bodyPr>
          <a:lstStyle/>
          <a:p>
            <a:r>
              <a:rPr lang="en-US" dirty="0" smtClean="0"/>
              <a:t>excess of 20 </a:t>
            </a:r>
            <a:r>
              <a:rPr lang="en-US" dirty="0" err="1" smtClean="0"/>
              <a:t>milliwatts</a:t>
            </a:r>
            <a:r>
              <a:rPr lang="en-US" dirty="0" smtClean="0"/>
              <a:t> (</a:t>
            </a:r>
            <a:r>
              <a:rPr lang="en-US" dirty="0" err="1" smtClean="0"/>
              <a:t>mW</a:t>
            </a:r>
            <a:r>
              <a:rPr lang="en-US" dirty="0" smtClean="0"/>
              <a:t>)</a:t>
            </a:r>
            <a:endParaRPr lang="en-US" dirty="0"/>
          </a:p>
        </p:txBody>
      </p:sp>
      <p:sp>
        <p:nvSpPr>
          <p:cNvPr id="6" name="Rectangle 5"/>
          <p:cNvSpPr/>
          <p:nvPr/>
        </p:nvSpPr>
        <p:spPr>
          <a:xfrm>
            <a:off x="1447800" y="5380672"/>
            <a:ext cx="6553200" cy="923330"/>
          </a:xfrm>
          <a:prstGeom prst="rect">
            <a:avLst/>
          </a:prstGeom>
        </p:spPr>
        <p:txBody>
          <a:bodyPr wrap="square">
            <a:spAutoFit/>
          </a:bodyPr>
          <a:lstStyle/>
          <a:p>
            <a:r>
              <a:rPr lang="en-US" dirty="0" smtClean="0"/>
              <a:t>switch from one wavelength to another in the order of nanoseconds, and this makes them potential candidates for building optical switches that could route traffic on a wavelength basis</a:t>
            </a:r>
            <a:endParaRPr lang="en-US" dirty="0"/>
          </a:p>
        </p:txBody>
      </p:sp>
      <p:sp>
        <p:nvSpPr>
          <p:cNvPr id="8" name="Rectangle 7"/>
          <p:cNvSpPr/>
          <p:nvPr/>
        </p:nvSpPr>
        <p:spPr>
          <a:xfrm>
            <a:off x="1600200" y="6324600"/>
            <a:ext cx="2515882" cy="369332"/>
          </a:xfrm>
          <a:prstGeom prst="rect">
            <a:avLst/>
          </a:prstGeom>
        </p:spPr>
        <p:txBody>
          <a:bodyPr wrap="none">
            <a:spAutoFit/>
          </a:bodyPr>
          <a:lstStyle/>
          <a:p>
            <a:r>
              <a:rPr lang="en-US" dirty="0" smtClean="0"/>
              <a:t>integrated thermal tuner</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Vertical Cavity Surface Emitting Lasers</a:t>
            </a:r>
            <a:endParaRPr lang="en-US" dirty="0"/>
          </a:p>
        </p:txBody>
      </p:sp>
      <p:sp>
        <p:nvSpPr>
          <p:cNvPr id="3" name="Content Placeholder 2"/>
          <p:cNvSpPr>
            <a:spLocks noGrp="1"/>
          </p:cNvSpPr>
          <p:nvPr>
            <p:ph idx="1"/>
          </p:nvPr>
        </p:nvSpPr>
        <p:spPr/>
        <p:txBody>
          <a:bodyPr/>
          <a:lstStyle/>
          <a:p>
            <a:r>
              <a:rPr lang="en-US" dirty="0" smtClean="0"/>
              <a:t>Gigabit Ethernet and 10 Gigabit Ethernet WDM LAN applications with 850-nm/1310-nm and single-mode or multimode options.</a:t>
            </a:r>
          </a:p>
          <a:p>
            <a:r>
              <a:rPr lang="en-US" dirty="0" smtClean="0"/>
              <a:t>VCSELs are capable of fast direct modulation speeds up to 2.5 </a:t>
            </a:r>
            <a:r>
              <a:rPr lang="en-US" dirty="0" err="1" smtClean="0"/>
              <a:t>Gbps</a:t>
            </a:r>
            <a:r>
              <a:rPr lang="en-US" dirty="0" smtClean="0"/>
              <a:t>.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Chirp</a:t>
            </a:r>
            <a:endParaRPr lang="en-US" dirty="0"/>
          </a:p>
        </p:txBody>
      </p:sp>
      <p:sp>
        <p:nvSpPr>
          <p:cNvPr id="3" name="Content Placeholder 2"/>
          <p:cNvSpPr>
            <a:spLocks noGrp="1"/>
          </p:cNvSpPr>
          <p:nvPr>
            <p:ph idx="1"/>
          </p:nvPr>
        </p:nvSpPr>
        <p:spPr/>
        <p:txBody>
          <a:bodyPr>
            <a:normAutofit lnSpcReduction="10000"/>
          </a:bodyPr>
          <a:lstStyle/>
          <a:p>
            <a:r>
              <a:rPr lang="en-US" dirty="0" smtClean="0"/>
              <a:t>Chirp is an abrupt change of the center wavelength of a laser, caused by laser instability. </a:t>
            </a:r>
          </a:p>
          <a:p>
            <a:r>
              <a:rPr lang="en-US" dirty="0" smtClean="0"/>
              <a:t>Chirp is the phenomenon of the rising edge of a pulse having a slightly different frequency than the falling edge. </a:t>
            </a:r>
          </a:p>
          <a:p>
            <a:r>
              <a:rPr lang="en-US" dirty="0" smtClean="0"/>
              <a:t>Chirp can be defined as the change in frequency of the transmitted optical signal with respect to time.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Direct Modulation</a:t>
            </a:r>
            <a:endParaRPr lang="en-US" dirty="0"/>
          </a:p>
        </p:txBody>
      </p:sp>
      <p:sp>
        <p:nvSpPr>
          <p:cNvPr id="3" name="Content Placeholder 2"/>
          <p:cNvSpPr>
            <a:spLocks noGrp="1"/>
          </p:cNvSpPr>
          <p:nvPr>
            <p:ph idx="1"/>
          </p:nvPr>
        </p:nvSpPr>
        <p:spPr/>
        <p:txBody>
          <a:bodyPr>
            <a:normAutofit lnSpcReduction="10000"/>
          </a:bodyPr>
          <a:lstStyle/>
          <a:p>
            <a:r>
              <a:rPr lang="en-US" dirty="0" smtClean="0"/>
              <a:t>Direct modulation -laser diode switches between on and off for a logical 1 and logical 0</a:t>
            </a:r>
          </a:p>
          <a:p>
            <a:r>
              <a:rPr lang="en-US" dirty="0" smtClean="0"/>
              <a:t>drawbacks –cannot be used at bit rates that are greater than 2.5 </a:t>
            </a:r>
            <a:r>
              <a:rPr lang="en-US" dirty="0" err="1" smtClean="0"/>
              <a:t>Gbps</a:t>
            </a:r>
            <a:r>
              <a:rPr lang="en-US" dirty="0" smtClean="0"/>
              <a:t>. </a:t>
            </a:r>
          </a:p>
          <a:p>
            <a:r>
              <a:rPr lang="en-US" dirty="0" smtClean="0"/>
              <a:t>Direct modulation creates nonlinearity, such as self-phase modulation (SPM), and also increases the laser chirp. </a:t>
            </a:r>
          </a:p>
          <a:p>
            <a:r>
              <a:rPr lang="en-US" dirty="0" smtClean="0"/>
              <a:t>Directly modulated lasers are limited by distance and are suited for metro application</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External Modulation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 DC-biased laser producing a continuous wave (CW) feeds an external modulator, which modulates the CW signal into desired optical bit streams.</a:t>
            </a:r>
          </a:p>
          <a:p>
            <a:r>
              <a:rPr lang="en-US" dirty="0" smtClean="0"/>
              <a:t>avoids nonlinearity and excessive chirp</a:t>
            </a:r>
          </a:p>
          <a:p>
            <a:r>
              <a:rPr lang="en-US" dirty="0" smtClean="0"/>
              <a:t>electro-absorption modulators (smaller)</a:t>
            </a:r>
          </a:p>
          <a:p>
            <a:r>
              <a:rPr lang="en-US" dirty="0" smtClean="0"/>
              <a:t>Mach-</a:t>
            </a:r>
            <a:r>
              <a:rPr lang="en-US" dirty="0" err="1" smtClean="0"/>
              <a:t>Zehnder</a:t>
            </a:r>
            <a:r>
              <a:rPr lang="en-US" dirty="0" smtClean="0"/>
              <a:t> interferometer (MZI) modulators (twice the bit rate as their bandwidth) </a:t>
            </a:r>
          </a:p>
          <a:p>
            <a:r>
              <a:rPr lang="en-US" dirty="0" smtClean="0"/>
              <a:t>RZ format is preferred in long-haul and ultra-long-haul systems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Optical Multiplexers and Multiplexers</a:t>
            </a:r>
            <a:endParaRPr lang="en-US" dirty="0"/>
          </a:p>
        </p:txBody>
      </p:sp>
      <p:sp>
        <p:nvSpPr>
          <p:cNvPr id="3" name="Content Placeholder 2"/>
          <p:cNvSpPr>
            <a:spLocks noGrp="1"/>
          </p:cNvSpPr>
          <p:nvPr>
            <p:ph idx="1"/>
          </p:nvPr>
        </p:nvSpPr>
        <p:spPr/>
        <p:txBody>
          <a:bodyPr>
            <a:normAutofit lnSpcReduction="10000"/>
          </a:bodyPr>
          <a:lstStyle/>
          <a:p>
            <a:r>
              <a:rPr lang="en-US" dirty="0" smtClean="0"/>
              <a:t>Thin film filters</a:t>
            </a:r>
          </a:p>
          <a:p>
            <a:r>
              <a:rPr lang="en-US" dirty="0" smtClean="0"/>
              <a:t>Fiber Bragg gratings (FBGs)</a:t>
            </a:r>
          </a:p>
          <a:p>
            <a:r>
              <a:rPr lang="en-US" dirty="0" smtClean="0"/>
              <a:t>Arrayed waveguide gratings (AWGs)</a:t>
            </a:r>
          </a:p>
          <a:p>
            <a:r>
              <a:rPr lang="en-US" dirty="0" smtClean="0"/>
              <a:t>FP cavity filter</a:t>
            </a:r>
          </a:p>
          <a:p>
            <a:r>
              <a:rPr lang="en-US" dirty="0" err="1" smtClean="0"/>
              <a:t>Acousto</a:t>
            </a:r>
            <a:r>
              <a:rPr lang="en-US" dirty="0" smtClean="0"/>
              <a:t> optical tunable filters</a:t>
            </a:r>
          </a:p>
          <a:p>
            <a:r>
              <a:rPr lang="en-US" dirty="0" smtClean="0"/>
              <a:t>Mach-</a:t>
            </a:r>
            <a:r>
              <a:rPr lang="en-US" dirty="0" err="1" smtClean="0"/>
              <a:t>Zehnder</a:t>
            </a:r>
            <a:r>
              <a:rPr lang="en-US" dirty="0" smtClean="0"/>
              <a:t> interferometers</a:t>
            </a:r>
          </a:p>
          <a:p>
            <a:r>
              <a:rPr lang="en-US" dirty="0" err="1" smtClean="0"/>
              <a:t>Interleavers</a:t>
            </a:r>
            <a:r>
              <a:rPr lang="en-US" dirty="0" smtClean="0"/>
              <a:t>, periodic filters, and frequency slicers</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Thin film filters</a:t>
            </a:r>
            <a:br>
              <a:rPr lang="en-US" dirty="0" smtClean="0"/>
            </a:br>
            <a:r>
              <a:rPr lang="en-US" sz="2700" dirty="0" smtClean="0"/>
              <a:t>metro DWDM products, whereas there are only 50 layers in a </a:t>
            </a:r>
            <a:br>
              <a:rPr lang="en-US" sz="2700" dirty="0" smtClean="0"/>
            </a:br>
            <a:r>
              <a:rPr lang="en-US" sz="2700" dirty="0" smtClean="0"/>
              <a:t>20-nm filter </a:t>
            </a:r>
            <a:endParaRPr lang="en-US" dirty="0"/>
          </a:p>
        </p:txBody>
      </p:sp>
      <p:pic>
        <p:nvPicPr>
          <p:cNvPr id="3074" name="Picture 2" descr="C:\Documents and Settings\admin\My Documents\My Pictures\untitled.bmp"/>
          <p:cNvPicPr>
            <a:picLocks noGrp="1" noChangeAspect="1" noChangeArrowheads="1"/>
          </p:cNvPicPr>
          <p:nvPr>
            <p:ph idx="1"/>
          </p:nvPr>
        </p:nvPicPr>
        <p:blipFill>
          <a:blip r:embed="rId2"/>
          <a:srcRect/>
          <a:stretch>
            <a:fillRect/>
          </a:stretch>
        </p:blipFill>
        <p:spPr bwMode="auto">
          <a:xfrm>
            <a:off x="5202809" y="1828800"/>
            <a:ext cx="3560191" cy="4648200"/>
          </a:xfrm>
          <a:prstGeom prst="rect">
            <a:avLst/>
          </a:prstGeom>
          <a:noFill/>
        </p:spPr>
      </p:pic>
      <p:sp>
        <p:nvSpPr>
          <p:cNvPr id="5" name="Rectangle 4"/>
          <p:cNvSpPr/>
          <p:nvPr/>
        </p:nvSpPr>
        <p:spPr>
          <a:xfrm>
            <a:off x="533400" y="1600200"/>
            <a:ext cx="4572000" cy="3970318"/>
          </a:xfrm>
          <a:prstGeom prst="rect">
            <a:avLst/>
          </a:prstGeom>
        </p:spPr>
        <p:txBody>
          <a:bodyPr wrap="square">
            <a:spAutoFit/>
          </a:bodyPr>
          <a:lstStyle/>
          <a:p>
            <a:r>
              <a:rPr lang="en-US" dirty="0" smtClean="0"/>
              <a:t>The cavity is formed by the thin films with interfaces that act as reflectors. </a:t>
            </a:r>
          </a:p>
          <a:p>
            <a:endParaRPr lang="en-US" dirty="0"/>
          </a:p>
          <a:p>
            <a:r>
              <a:rPr lang="en-US" dirty="0" smtClean="0"/>
              <a:t>The wavelength or group of wavelengths that is selected depends on the length of this cavity.</a:t>
            </a:r>
          </a:p>
          <a:p>
            <a:endParaRPr lang="en-US" dirty="0"/>
          </a:p>
          <a:p>
            <a:r>
              <a:rPr lang="en-US" dirty="0" smtClean="0"/>
              <a:t> TFFs are typically made of quarter wavelength (LAMDA/4n)-thick layers of alternating high- and low-refractive index materials. </a:t>
            </a:r>
          </a:p>
          <a:p>
            <a:endParaRPr lang="en-US" dirty="0"/>
          </a:p>
          <a:p>
            <a:endParaRPr lang="en-US" dirty="0" smtClean="0"/>
          </a:p>
          <a:p>
            <a:r>
              <a:rPr lang="en-US" dirty="0" smtClean="0"/>
              <a:t>TFFs use many ultra-thin layers of dielectric material coating deposited on a glass or polymer substrate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Fiber Bragg Grating</a:t>
            </a:r>
            <a:br>
              <a:rPr lang="en-US" b="1" dirty="0" smtClean="0"/>
            </a:br>
            <a:r>
              <a:rPr lang="en-US" b="1" dirty="0" smtClean="0"/>
              <a:t>(</a:t>
            </a:r>
            <a:r>
              <a:rPr lang="en-US" sz="2700" dirty="0" smtClean="0"/>
              <a:t>ultraviolet radiation to create periodic changes in the refractive index of the fiber)</a:t>
            </a:r>
            <a:endParaRPr lang="en-US" sz="2700" dirty="0"/>
          </a:p>
        </p:txBody>
      </p:sp>
      <p:pic>
        <p:nvPicPr>
          <p:cNvPr id="4098" name="Picture 2" descr="C:\Documents and Settings\admin\My Documents\My Pictures\untitled.bmp"/>
          <p:cNvPicPr>
            <a:picLocks noGrp="1" noChangeAspect="1" noChangeArrowheads="1"/>
          </p:cNvPicPr>
          <p:nvPr>
            <p:ph idx="1"/>
          </p:nvPr>
        </p:nvPicPr>
        <p:blipFill>
          <a:blip r:embed="rId2"/>
          <a:srcRect/>
          <a:stretch>
            <a:fillRect/>
          </a:stretch>
        </p:blipFill>
        <p:spPr bwMode="auto">
          <a:xfrm>
            <a:off x="228600" y="1981200"/>
            <a:ext cx="4495800" cy="1905000"/>
          </a:xfrm>
          <a:prstGeom prst="rect">
            <a:avLst/>
          </a:prstGeom>
          <a:noFill/>
        </p:spPr>
      </p:pic>
      <p:sp>
        <p:nvSpPr>
          <p:cNvPr id="5" name="Rectangle 4"/>
          <p:cNvSpPr/>
          <p:nvPr/>
        </p:nvSpPr>
        <p:spPr>
          <a:xfrm>
            <a:off x="5486400" y="1752600"/>
            <a:ext cx="2819400" cy="4524315"/>
          </a:xfrm>
          <a:prstGeom prst="rect">
            <a:avLst/>
          </a:prstGeom>
        </p:spPr>
        <p:txBody>
          <a:bodyPr wrap="square">
            <a:spAutoFit/>
          </a:bodyPr>
          <a:lstStyle/>
          <a:p>
            <a:r>
              <a:rPr lang="en-US" dirty="0" smtClean="0"/>
              <a:t>The FBG can be characterized by low-loss (0.1-dB) and low-channel cross talk. </a:t>
            </a:r>
          </a:p>
          <a:p>
            <a:endParaRPr lang="en-US" dirty="0" smtClean="0"/>
          </a:p>
          <a:p>
            <a:r>
              <a:rPr lang="en-US" dirty="0" smtClean="0"/>
              <a:t>FBGs find applications in most WDM systems, such as channel-drop elements, dispersion-compensation devices, and filters.</a:t>
            </a:r>
          </a:p>
          <a:p>
            <a:endParaRPr lang="en-US" dirty="0" smtClean="0"/>
          </a:p>
          <a:p>
            <a:r>
              <a:rPr lang="en-US" dirty="0" smtClean="0"/>
              <a:t>FBGs have a range of 10 nm and require a tuning time of 1 to 10 seconds with mechanical tuning mechanisms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Arrayed Waveguide</a:t>
            </a:r>
            <a:r>
              <a:rPr lang="en-US" sz="2200" b="1" dirty="0" smtClean="0"/>
              <a:t>(</a:t>
            </a:r>
            <a:r>
              <a:rPr lang="en-US" sz="2200" dirty="0" smtClean="0"/>
              <a:t>multiplexers and switching systems)</a:t>
            </a:r>
            <a:r>
              <a:rPr lang="en-US" sz="2400" dirty="0" smtClean="0"/>
              <a:t> tuning time -10 ms-thermo-optic tuning mechanisms</a:t>
            </a:r>
            <a:endParaRPr lang="en-US" sz="2200" dirty="0"/>
          </a:p>
        </p:txBody>
      </p:sp>
      <p:pic>
        <p:nvPicPr>
          <p:cNvPr id="5122" name="Picture 2" descr="C:\Documents and Settings\admin\My Documents\My Pictures\untitled.bmp"/>
          <p:cNvPicPr>
            <a:picLocks noGrp="1" noChangeAspect="1" noChangeArrowheads="1"/>
          </p:cNvPicPr>
          <p:nvPr>
            <p:ph idx="1"/>
          </p:nvPr>
        </p:nvPicPr>
        <p:blipFill>
          <a:blip r:embed="rId2"/>
          <a:srcRect/>
          <a:stretch>
            <a:fillRect/>
          </a:stretch>
        </p:blipFill>
        <p:spPr bwMode="auto">
          <a:xfrm>
            <a:off x="0" y="1524000"/>
            <a:ext cx="4191000" cy="4525963"/>
          </a:xfrm>
          <a:prstGeom prst="rect">
            <a:avLst/>
          </a:prstGeom>
          <a:noFill/>
        </p:spPr>
      </p:pic>
      <p:sp>
        <p:nvSpPr>
          <p:cNvPr id="5" name="Rectangle 4"/>
          <p:cNvSpPr/>
          <p:nvPr/>
        </p:nvSpPr>
        <p:spPr>
          <a:xfrm>
            <a:off x="4343400" y="1600200"/>
            <a:ext cx="4191000" cy="4247317"/>
          </a:xfrm>
          <a:prstGeom prst="rect">
            <a:avLst/>
          </a:prstGeom>
        </p:spPr>
        <p:txBody>
          <a:bodyPr wrap="square">
            <a:spAutoFit/>
          </a:bodyPr>
          <a:lstStyle/>
          <a:p>
            <a:r>
              <a:rPr lang="en-US" dirty="0" smtClean="0"/>
              <a:t>In the transmit direction, the AWG mixes individual wavelengths from different lines etched into the AWG substrate (the base material that supports the waveguides) into one etched line called the output waveguide, thereby acting as a multiplexer.</a:t>
            </a:r>
          </a:p>
          <a:p>
            <a:r>
              <a:rPr lang="en-US" dirty="0" smtClean="0"/>
              <a:t> </a:t>
            </a:r>
          </a:p>
          <a:p>
            <a:r>
              <a:rPr lang="en-US" dirty="0" smtClean="0"/>
              <a:t>In the opposite direction, the AWG can </a:t>
            </a:r>
            <a:r>
              <a:rPr lang="en-US" dirty="0" err="1" smtClean="0"/>
              <a:t>demultiplex</a:t>
            </a:r>
            <a:r>
              <a:rPr lang="en-US" dirty="0" smtClean="0"/>
              <a:t> the composite LAMDASs onto individual etched lines.</a:t>
            </a:r>
          </a:p>
          <a:p>
            <a:r>
              <a:rPr lang="en-US" dirty="0" smtClean="0"/>
              <a:t/>
            </a:r>
            <a:br>
              <a:rPr lang="en-US" dirty="0" smtClean="0"/>
            </a:br>
            <a:r>
              <a:rPr lang="en-US" dirty="0" smtClean="0"/>
              <a:t> Signals passing through each of these waveguides interfere with signals passing through their neighboring waveguides at the converging point(s).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Fabry</a:t>
            </a:r>
            <a:r>
              <a:rPr lang="en-US" b="1" dirty="0" smtClean="0"/>
              <a:t> Perot Cavity Filter</a:t>
            </a:r>
            <a:endParaRPr lang="en-US" dirty="0"/>
          </a:p>
        </p:txBody>
      </p:sp>
      <p:pic>
        <p:nvPicPr>
          <p:cNvPr id="6146" name="Picture 2" descr="C:\Documents and Settings\admin\My Documents\My Pictures\untitled.bmp"/>
          <p:cNvPicPr>
            <a:picLocks noGrp="1" noChangeAspect="1" noChangeArrowheads="1"/>
          </p:cNvPicPr>
          <p:nvPr>
            <p:ph idx="1"/>
          </p:nvPr>
        </p:nvPicPr>
        <p:blipFill>
          <a:blip r:embed="rId2"/>
          <a:srcRect/>
          <a:stretch>
            <a:fillRect/>
          </a:stretch>
        </p:blipFill>
        <p:spPr bwMode="auto">
          <a:xfrm>
            <a:off x="2133600" y="2015331"/>
            <a:ext cx="4876800" cy="1870869"/>
          </a:xfrm>
          <a:prstGeom prst="rect">
            <a:avLst/>
          </a:prstGeom>
          <a:noFill/>
        </p:spPr>
      </p:pic>
      <p:sp>
        <p:nvSpPr>
          <p:cNvPr id="5" name="Rectangle 4"/>
          <p:cNvSpPr/>
          <p:nvPr/>
        </p:nvSpPr>
        <p:spPr>
          <a:xfrm>
            <a:off x="381000" y="3886200"/>
            <a:ext cx="4572000" cy="646331"/>
          </a:xfrm>
          <a:prstGeom prst="rect">
            <a:avLst/>
          </a:prstGeom>
        </p:spPr>
        <p:txBody>
          <a:bodyPr>
            <a:spAutoFit/>
          </a:bodyPr>
          <a:lstStyle/>
          <a:p>
            <a:r>
              <a:rPr lang="en-US" dirty="0" smtClean="0"/>
              <a:t>two reflective surfaces separated by a refractive medium</a:t>
            </a:r>
            <a:endParaRPr lang="en-US" dirty="0"/>
          </a:p>
        </p:txBody>
      </p:sp>
      <p:sp>
        <p:nvSpPr>
          <p:cNvPr id="6" name="Rectangle 5"/>
          <p:cNvSpPr/>
          <p:nvPr/>
        </p:nvSpPr>
        <p:spPr>
          <a:xfrm>
            <a:off x="381000" y="4572000"/>
            <a:ext cx="4572000" cy="646331"/>
          </a:xfrm>
          <a:prstGeom prst="rect">
            <a:avLst/>
          </a:prstGeom>
        </p:spPr>
        <p:txBody>
          <a:bodyPr>
            <a:spAutoFit/>
          </a:bodyPr>
          <a:lstStyle/>
          <a:p>
            <a:r>
              <a:rPr lang="en-US" dirty="0" smtClean="0"/>
              <a:t>reflectivity that is a function of the operating wavelength</a:t>
            </a:r>
            <a:endParaRPr lang="en-US" dirty="0"/>
          </a:p>
        </p:txBody>
      </p:sp>
      <p:sp>
        <p:nvSpPr>
          <p:cNvPr id="7" name="Rectangle 6"/>
          <p:cNvSpPr/>
          <p:nvPr/>
        </p:nvSpPr>
        <p:spPr>
          <a:xfrm>
            <a:off x="381000" y="5181600"/>
            <a:ext cx="4572000" cy="1477328"/>
          </a:xfrm>
          <a:prstGeom prst="rect">
            <a:avLst/>
          </a:prstGeom>
        </p:spPr>
        <p:txBody>
          <a:bodyPr wrap="square">
            <a:spAutoFit/>
          </a:bodyPr>
          <a:lstStyle/>
          <a:p>
            <a:r>
              <a:rPr lang="en-US" dirty="0" smtClean="0"/>
              <a:t>The reflective surfaces are connected to an electromechanical transducer, and the distance between the reflective surfaces can be changed by varying the current to the transducer</a:t>
            </a:r>
            <a:endParaRPr lang="en-US" dirty="0"/>
          </a:p>
        </p:txBody>
      </p:sp>
      <p:sp>
        <p:nvSpPr>
          <p:cNvPr id="8" name="Rectangle 7"/>
          <p:cNvSpPr/>
          <p:nvPr/>
        </p:nvSpPr>
        <p:spPr>
          <a:xfrm>
            <a:off x="5181600" y="3810000"/>
            <a:ext cx="3657600" cy="1477328"/>
          </a:xfrm>
          <a:prstGeom prst="rect">
            <a:avLst/>
          </a:prstGeom>
        </p:spPr>
        <p:txBody>
          <a:bodyPr wrap="square">
            <a:spAutoFit/>
          </a:bodyPr>
          <a:lstStyle/>
          <a:p>
            <a:r>
              <a:rPr lang="en-US" dirty="0" smtClean="0"/>
              <a:t>FP cavity mirrors are typically about 150 to 200 mm apart, and common cavities are constructed by using the air gap between the polished surfaces of two fibers.</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Acousto</a:t>
            </a:r>
            <a:r>
              <a:rPr lang="en-US" b="1" dirty="0" smtClean="0"/>
              <a:t> Optical Tunable Filter</a:t>
            </a:r>
            <a:endParaRPr lang="en-US" dirty="0"/>
          </a:p>
        </p:txBody>
      </p:sp>
      <p:pic>
        <p:nvPicPr>
          <p:cNvPr id="7170" name="Picture 2" descr="C:\Documents and Settings\admin\My Documents\My Pictures\untitled.bmp"/>
          <p:cNvPicPr>
            <a:picLocks noGrp="1" noChangeAspect="1" noChangeArrowheads="1"/>
          </p:cNvPicPr>
          <p:nvPr>
            <p:ph idx="1"/>
          </p:nvPr>
        </p:nvPicPr>
        <p:blipFill>
          <a:blip r:embed="rId2"/>
          <a:srcRect/>
          <a:stretch>
            <a:fillRect/>
          </a:stretch>
        </p:blipFill>
        <p:spPr bwMode="auto">
          <a:xfrm>
            <a:off x="152400" y="2819400"/>
            <a:ext cx="5638800" cy="4038600"/>
          </a:xfrm>
          <a:prstGeom prst="rect">
            <a:avLst/>
          </a:prstGeom>
          <a:noFill/>
        </p:spPr>
      </p:pic>
      <p:sp>
        <p:nvSpPr>
          <p:cNvPr id="5" name="Rectangle 4"/>
          <p:cNvSpPr/>
          <p:nvPr/>
        </p:nvSpPr>
        <p:spPr>
          <a:xfrm>
            <a:off x="1143000" y="1066800"/>
            <a:ext cx="7239000" cy="1200329"/>
          </a:xfrm>
          <a:prstGeom prst="rect">
            <a:avLst/>
          </a:prstGeom>
        </p:spPr>
        <p:txBody>
          <a:bodyPr wrap="square">
            <a:spAutoFit/>
          </a:bodyPr>
          <a:lstStyle/>
          <a:p>
            <a:r>
              <a:rPr lang="en-US" dirty="0" smtClean="0"/>
              <a:t>Ultrasound waves are essentially longitudinal waves with propagation based on formation of compression and rarefaction zones, The interaction of light with the acoustic waves is called the photon-phonon interaction and results because of an effect known as the photo-elastic effect</a:t>
            </a:r>
            <a:endParaRPr lang="en-US" dirty="0"/>
          </a:p>
        </p:txBody>
      </p:sp>
      <p:sp>
        <p:nvSpPr>
          <p:cNvPr id="6" name="Rectangle 5"/>
          <p:cNvSpPr/>
          <p:nvPr/>
        </p:nvSpPr>
        <p:spPr>
          <a:xfrm>
            <a:off x="7239000" y="3352800"/>
            <a:ext cx="1512402" cy="369332"/>
          </a:xfrm>
          <a:prstGeom prst="rect">
            <a:avLst/>
          </a:prstGeom>
        </p:spPr>
        <p:txBody>
          <a:bodyPr wrap="none">
            <a:spAutoFit/>
          </a:bodyPr>
          <a:lstStyle/>
          <a:p>
            <a:r>
              <a:rPr lang="en-US" dirty="0" smtClean="0"/>
              <a:t>optical router </a:t>
            </a:r>
            <a:endParaRPr lang="en-US" dirty="0"/>
          </a:p>
        </p:txBody>
      </p:sp>
      <p:sp>
        <p:nvSpPr>
          <p:cNvPr id="7" name="Rectangle 6"/>
          <p:cNvSpPr/>
          <p:nvPr/>
        </p:nvSpPr>
        <p:spPr>
          <a:xfrm>
            <a:off x="4572000" y="2286000"/>
            <a:ext cx="4572000" cy="646331"/>
          </a:xfrm>
          <a:prstGeom prst="rect">
            <a:avLst/>
          </a:prstGeom>
        </p:spPr>
        <p:txBody>
          <a:bodyPr>
            <a:spAutoFit/>
          </a:bodyPr>
          <a:lstStyle/>
          <a:p>
            <a:r>
              <a:rPr lang="en-US" dirty="0" smtClean="0"/>
              <a:t>tuning range of 250 nm covering both C- and L-bands.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Mach-</a:t>
            </a:r>
            <a:r>
              <a:rPr lang="en-US" b="1" dirty="0" err="1" smtClean="0"/>
              <a:t>Zehnder</a:t>
            </a:r>
            <a:r>
              <a:rPr lang="en-US" b="1" dirty="0" smtClean="0"/>
              <a:t> Interferometers</a:t>
            </a:r>
            <a:endParaRPr lang="en-US" dirty="0"/>
          </a:p>
        </p:txBody>
      </p:sp>
      <p:sp>
        <p:nvSpPr>
          <p:cNvPr id="5" name="Rectangle 4"/>
          <p:cNvSpPr/>
          <p:nvPr/>
        </p:nvSpPr>
        <p:spPr>
          <a:xfrm>
            <a:off x="228600" y="1676400"/>
            <a:ext cx="4572000" cy="1200329"/>
          </a:xfrm>
          <a:prstGeom prst="rect">
            <a:avLst/>
          </a:prstGeom>
        </p:spPr>
        <p:txBody>
          <a:bodyPr>
            <a:spAutoFit/>
          </a:bodyPr>
          <a:lstStyle/>
          <a:p>
            <a:r>
              <a:rPr lang="en-US" dirty="0" smtClean="0"/>
              <a:t>The couplers are connected to the two arms of the MZI. The voltage can be varied across the MZI arm to change the coupling ratio between the two arms. </a:t>
            </a:r>
            <a:endParaRPr lang="en-US" dirty="0"/>
          </a:p>
        </p:txBody>
      </p:sp>
      <p:pic>
        <p:nvPicPr>
          <p:cNvPr id="8195" name="Picture 3" descr="C:\Documents and Settings\admin\My Documents\My Pictures\untitled.bmp"/>
          <p:cNvPicPr>
            <a:picLocks noChangeAspect="1" noChangeArrowheads="1"/>
          </p:cNvPicPr>
          <p:nvPr/>
        </p:nvPicPr>
        <p:blipFill>
          <a:blip r:embed="rId2"/>
          <a:srcRect/>
          <a:stretch>
            <a:fillRect/>
          </a:stretch>
        </p:blipFill>
        <p:spPr bwMode="auto">
          <a:xfrm>
            <a:off x="4648200" y="1524000"/>
            <a:ext cx="3962400" cy="2667000"/>
          </a:xfrm>
          <a:prstGeom prst="rect">
            <a:avLst/>
          </a:prstGeom>
          <a:noFill/>
        </p:spPr>
      </p:pic>
      <p:sp>
        <p:nvSpPr>
          <p:cNvPr id="9" name="Rectangle 8"/>
          <p:cNvSpPr/>
          <p:nvPr/>
        </p:nvSpPr>
        <p:spPr>
          <a:xfrm>
            <a:off x="152400" y="2971800"/>
            <a:ext cx="8763000" cy="3693319"/>
          </a:xfrm>
          <a:prstGeom prst="rect">
            <a:avLst/>
          </a:prstGeom>
        </p:spPr>
        <p:txBody>
          <a:bodyPr wrap="square">
            <a:spAutoFit/>
          </a:bodyPr>
          <a:lstStyle/>
          <a:p>
            <a:r>
              <a:rPr lang="en-US" dirty="0" smtClean="0"/>
              <a:t>couplers are equally balanced and the input power is equally split between the two arms. The signals in the two arms interact with each other twice.</a:t>
            </a:r>
          </a:p>
          <a:p>
            <a:endParaRPr lang="en-US" dirty="0" smtClean="0"/>
          </a:p>
          <a:p>
            <a:r>
              <a:rPr lang="en-US" dirty="0" smtClean="0"/>
              <a:t> The first coupler (A) divides the signal into two  AND can be made to obtain different phase shifts by varying the lengths of the two arms. </a:t>
            </a:r>
          </a:p>
          <a:p>
            <a:endParaRPr lang="en-US" dirty="0" smtClean="0"/>
          </a:p>
          <a:p>
            <a:r>
              <a:rPr lang="en-US" dirty="0" smtClean="0"/>
              <a:t>The signals, upon interfering with each other at the second coupler (B), might have constructive or destructive interference. </a:t>
            </a:r>
          </a:p>
          <a:p>
            <a:r>
              <a:rPr lang="en-US" dirty="0" smtClean="0"/>
              <a:t>The constructive or destructive interference blocks one wavelength. </a:t>
            </a:r>
          </a:p>
          <a:p>
            <a:r>
              <a:rPr lang="en-US" dirty="0" smtClean="0"/>
              <a:t>MZIs can be built on planar silica, indium </a:t>
            </a:r>
            <a:r>
              <a:rPr lang="en-US" dirty="0" err="1" smtClean="0"/>
              <a:t>phosphide</a:t>
            </a:r>
            <a:r>
              <a:rPr lang="en-US" dirty="0" smtClean="0"/>
              <a:t>, or lithium </a:t>
            </a:r>
            <a:r>
              <a:rPr lang="en-US" dirty="0" err="1" smtClean="0"/>
              <a:t>niobate</a:t>
            </a:r>
            <a:r>
              <a:rPr lang="en-US" dirty="0" smtClean="0"/>
              <a:t> substrates. </a:t>
            </a:r>
          </a:p>
          <a:p>
            <a:endParaRPr lang="en-US" dirty="0" smtClean="0"/>
          </a:p>
          <a:p>
            <a:r>
              <a:rPr lang="en-US" dirty="0" smtClean="0"/>
              <a:t>MZIs have a tuning range of 4 nm and have tuning times in the order of tens of nanoseconds.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Couple</a:t>
            </a:r>
            <a:r>
              <a:rPr lang="en-US" dirty="0" smtClean="0"/>
              <a:t>. </a:t>
            </a:r>
            <a:r>
              <a:rPr lang="en-US" b="1" dirty="0" err="1" smtClean="0"/>
              <a:t>rs</a:t>
            </a:r>
            <a:r>
              <a:rPr lang="en-US" b="1" dirty="0" smtClean="0"/>
              <a:t>, Circulators, and Isolators</a:t>
            </a:r>
            <a:r>
              <a:rPr lang="en-US" sz="3100" dirty="0" smtClean="0"/>
              <a:t>(</a:t>
            </a:r>
            <a:r>
              <a:rPr lang="en-US" sz="3100" dirty="0" smtClean="0"/>
              <a:t>optical power transfer device)</a:t>
            </a:r>
            <a:endParaRPr lang="en-US" sz="3100" dirty="0"/>
          </a:p>
        </p:txBody>
      </p:sp>
      <p:pic>
        <p:nvPicPr>
          <p:cNvPr id="9218" name="Picture 2" descr="C:\Documents and Settings\admin\My Documents\My Pictures\untitled.bmp"/>
          <p:cNvPicPr>
            <a:picLocks noGrp="1" noChangeAspect="1" noChangeArrowheads="1"/>
          </p:cNvPicPr>
          <p:nvPr>
            <p:ph idx="1"/>
          </p:nvPr>
        </p:nvPicPr>
        <p:blipFill>
          <a:blip r:embed="rId3"/>
          <a:srcRect/>
          <a:stretch>
            <a:fillRect/>
          </a:stretch>
        </p:blipFill>
        <p:spPr bwMode="auto">
          <a:xfrm>
            <a:off x="609600" y="1066800"/>
            <a:ext cx="8229600" cy="3884371"/>
          </a:xfrm>
          <a:prstGeom prst="rect">
            <a:avLst/>
          </a:prstGeom>
          <a:noFill/>
        </p:spPr>
      </p:pic>
      <p:sp>
        <p:nvSpPr>
          <p:cNvPr id="5" name="Rectangle 4"/>
          <p:cNvSpPr/>
          <p:nvPr/>
        </p:nvSpPr>
        <p:spPr>
          <a:xfrm>
            <a:off x="0" y="4800600"/>
            <a:ext cx="4572000" cy="646331"/>
          </a:xfrm>
          <a:prstGeom prst="rect">
            <a:avLst/>
          </a:prstGeom>
        </p:spPr>
        <p:txBody>
          <a:bodyPr>
            <a:spAutoFit/>
          </a:bodyPr>
          <a:lstStyle/>
          <a:p>
            <a:r>
              <a:rPr lang="en-US" dirty="0" smtClean="0"/>
              <a:t>Couplers are passive bidirectional devices that could have multiple inputs and output ports</a:t>
            </a:r>
            <a:endParaRPr lang="en-US" dirty="0"/>
          </a:p>
        </p:txBody>
      </p:sp>
      <p:sp>
        <p:nvSpPr>
          <p:cNvPr id="6" name="Rectangle 5"/>
          <p:cNvSpPr/>
          <p:nvPr/>
        </p:nvSpPr>
        <p:spPr>
          <a:xfrm>
            <a:off x="0" y="5486400"/>
            <a:ext cx="4572000" cy="1200329"/>
          </a:xfrm>
          <a:prstGeom prst="rect">
            <a:avLst/>
          </a:prstGeom>
        </p:spPr>
        <p:txBody>
          <a:bodyPr>
            <a:spAutoFit/>
          </a:bodyPr>
          <a:lstStyle/>
          <a:p>
            <a:r>
              <a:rPr lang="en-US" dirty="0" smtClean="0"/>
              <a:t>Couplers are used for monitoring WDM ports and for passively adding channels into a fiber.</a:t>
            </a:r>
          </a:p>
          <a:p>
            <a:endParaRPr lang="en-US" dirty="0"/>
          </a:p>
          <a:p>
            <a:r>
              <a:rPr lang="en-US" dirty="0" smtClean="0"/>
              <a:t>3 Db insertion loss</a:t>
            </a:r>
            <a:endParaRPr lang="en-US" dirty="0"/>
          </a:p>
        </p:txBody>
      </p:sp>
      <p:sp>
        <p:nvSpPr>
          <p:cNvPr id="7" name="Rectangle 6"/>
          <p:cNvSpPr/>
          <p:nvPr/>
        </p:nvSpPr>
        <p:spPr>
          <a:xfrm>
            <a:off x="4572000" y="4800600"/>
            <a:ext cx="4572000" cy="1754326"/>
          </a:xfrm>
          <a:prstGeom prst="rect">
            <a:avLst/>
          </a:prstGeom>
        </p:spPr>
        <p:txBody>
          <a:bodyPr>
            <a:spAutoFit/>
          </a:bodyPr>
          <a:lstStyle/>
          <a:p>
            <a:r>
              <a:rPr lang="en-US" dirty="0" smtClean="0"/>
              <a:t>A signal entering port 1 is directed to port 2, whereas the signal entering port 2 is directed to port 3. The connection between port 3 and port 1 is generally not available. circulator uses polarization beam splitters to separate wavelengths.(0.7dB insertion loss)</a:t>
            </a:r>
            <a:endParaRPr lang="en-US" dirty="0"/>
          </a:p>
        </p:txBody>
      </p:sp>
      <p:sp>
        <p:nvSpPr>
          <p:cNvPr id="8" name="Rectangle 7"/>
          <p:cNvSpPr/>
          <p:nvPr/>
        </p:nvSpPr>
        <p:spPr>
          <a:xfrm>
            <a:off x="228600" y="2514600"/>
            <a:ext cx="8686800" cy="923330"/>
          </a:xfrm>
          <a:prstGeom prst="rect">
            <a:avLst/>
          </a:prstGeom>
        </p:spPr>
        <p:txBody>
          <a:bodyPr wrap="square">
            <a:spAutoFit/>
          </a:bodyPr>
          <a:lstStyle/>
          <a:p>
            <a:r>
              <a:rPr lang="en-US" dirty="0" smtClean="0"/>
              <a:t>Only the incident light that matches the phase of the polarizer passes through. This light is now subjected to a Faraday rotator, which rotates the state of polarization (SOP) by 45 degrees.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Amplifiers</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Pre-amplifiers boost pulses -transmit side</a:t>
            </a:r>
          </a:p>
          <a:p>
            <a:r>
              <a:rPr lang="en-US" dirty="0" err="1" smtClean="0"/>
              <a:t>postamplifiers</a:t>
            </a:r>
            <a:r>
              <a:rPr lang="en-US" dirty="0" smtClean="0"/>
              <a:t> boost pulses -receive side</a:t>
            </a:r>
          </a:p>
          <a:p>
            <a:r>
              <a:rPr lang="en-US" dirty="0" smtClean="0"/>
              <a:t> In-line amplifiers (ILA) are placed at different distances from the source to provide recovery of the signal before it is degraded by loss.</a:t>
            </a:r>
          </a:p>
          <a:p>
            <a:r>
              <a:rPr lang="en-US" dirty="0" smtClean="0"/>
              <a:t>1R— Re-amplify</a:t>
            </a:r>
          </a:p>
          <a:p>
            <a:r>
              <a:rPr lang="en-US" dirty="0" smtClean="0"/>
              <a:t>2R— Re-amplify and reshape</a:t>
            </a:r>
          </a:p>
          <a:p>
            <a:r>
              <a:rPr lang="en-US" dirty="0" smtClean="0"/>
              <a:t>3R— Re-amplify, reshape, and retime (Note that a </a:t>
            </a:r>
            <a:r>
              <a:rPr lang="en-US" dirty="0" err="1" smtClean="0"/>
              <a:t>multiwavelength</a:t>
            </a:r>
            <a:r>
              <a:rPr lang="en-US" dirty="0" smtClean="0"/>
              <a:t> 3R repeater is not practical in a high-capacity DWDM network due to the higher number of wavelengths to regenerate and/or the size, power, and cost associated with each wavelength regenerated)</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Optical amplifiers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PDFA— </a:t>
            </a:r>
            <a:r>
              <a:rPr lang="en-US" dirty="0"/>
              <a:t> Praseodymium</a:t>
            </a:r>
            <a:r>
              <a:rPr lang="en-US" dirty="0" smtClean="0"/>
              <a:t>-doped fiber amplifier (1310–1380 nm)</a:t>
            </a:r>
          </a:p>
          <a:p>
            <a:r>
              <a:rPr lang="en-US" dirty="0" smtClean="0"/>
              <a:t>EDFA— Erbium-doped fiber amplifier (1530–1565 nm)</a:t>
            </a:r>
          </a:p>
          <a:p>
            <a:r>
              <a:rPr lang="en-US" dirty="0" smtClean="0"/>
              <a:t>GS-EDFA— Gain-shifted EDFA (1565–1625 nm)</a:t>
            </a:r>
          </a:p>
          <a:p>
            <a:r>
              <a:rPr lang="en-US" dirty="0" smtClean="0"/>
              <a:t>EDTFA— Tellurium-based gain-shifted TDFA (1530–1610 nm)</a:t>
            </a:r>
          </a:p>
          <a:p>
            <a:r>
              <a:rPr lang="en-US" dirty="0" smtClean="0"/>
              <a:t>GS-TDFA— Gain-shifted thulium-doped fiber amplifier (1490–1530 nm)</a:t>
            </a:r>
          </a:p>
          <a:p>
            <a:r>
              <a:rPr lang="en-US" dirty="0" smtClean="0"/>
              <a:t>TDFA— Thulium-doped fluoride-based fiber amplifier (1450–1490 nm)</a:t>
            </a:r>
          </a:p>
          <a:p>
            <a:r>
              <a:rPr lang="en-US" dirty="0" smtClean="0"/>
              <a:t>RFA— Raman fiber amplifier (1420–1650 nm or more)</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Erbium-Doped Fiber Amplifiers</a:t>
            </a:r>
            <a:br>
              <a:rPr lang="en-US" b="1" dirty="0" smtClean="0"/>
            </a:br>
            <a:endParaRPr lang="en-US" dirty="0"/>
          </a:p>
        </p:txBody>
      </p:sp>
      <p:pic>
        <p:nvPicPr>
          <p:cNvPr id="10242" name="Picture 2" descr="C:\Documents and Settings\admin\My Documents\My Pictures\untitled.bmp"/>
          <p:cNvPicPr>
            <a:picLocks noGrp="1" noChangeAspect="1" noChangeArrowheads="1"/>
          </p:cNvPicPr>
          <p:nvPr>
            <p:ph idx="1"/>
          </p:nvPr>
        </p:nvPicPr>
        <p:blipFill>
          <a:blip r:embed="rId2"/>
          <a:srcRect/>
          <a:stretch>
            <a:fillRect/>
          </a:stretch>
        </p:blipFill>
        <p:spPr bwMode="auto">
          <a:xfrm>
            <a:off x="457200" y="3124200"/>
            <a:ext cx="8229600" cy="3226003"/>
          </a:xfrm>
          <a:prstGeom prst="rect">
            <a:avLst/>
          </a:prstGeom>
          <a:noFill/>
        </p:spPr>
      </p:pic>
      <p:sp>
        <p:nvSpPr>
          <p:cNvPr id="5" name="Rectangle 4"/>
          <p:cNvSpPr/>
          <p:nvPr/>
        </p:nvSpPr>
        <p:spPr>
          <a:xfrm>
            <a:off x="304800" y="838200"/>
            <a:ext cx="2971800" cy="369332"/>
          </a:xfrm>
          <a:prstGeom prst="rect">
            <a:avLst/>
          </a:prstGeom>
        </p:spPr>
        <p:txBody>
          <a:bodyPr wrap="square">
            <a:spAutoFit/>
          </a:bodyPr>
          <a:lstStyle/>
          <a:p>
            <a:r>
              <a:rPr lang="en-US" dirty="0" smtClean="0"/>
              <a:t>1530- to 1565-nm range</a:t>
            </a:r>
            <a:endParaRPr lang="en-US" dirty="0"/>
          </a:p>
        </p:txBody>
      </p:sp>
      <p:sp>
        <p:nvSpPr>
          <p:cNvPr id="6" name="Rectangle 5"/>
          <p:cNvSpPr/>
          <p:nvPr/>
        </p:nvSpPr>
        <p:spPr>
          <a:xfrm>
            <a:off x="381000" y="1219200"/>
            <a:ext cx="4354910" cy="369332"/>
          </a:xfrm>
          <a:prstGeom prst="rect">
            <a:avLst/>
          </a:prstGeom>
        </p:spPr>
        <p:txBody>
          <a:bodyPr wrap="none">
            <a:spAutoFit/>
          </a:bodyPr>
          <a:lstStyle/>
          <a:p>
            <a:r>
              <a:rPr lang="en-US" dirty="0" smtClean="0"/>
              <a:t>980 nm and/or 1480 nm (pump laser diode) </a:t>
            </a:r>
            <a:endParaRPr lang="en-US" dirty="0"/>
          </a:p>
        </p:txBody>
      </p:sp>
      <p:sp>
        <p:nvSpPr>
          <p:cNvPr id="7" name="Rectangle 6"/>
          <p:cNvSpPr/>
          <p:nvPr/>
        </p:nvSpPr>
        <p:spPr>
          <a:xfrm>
            <a:off x="304800" y="1828800"/>
            <a:ext cx="4572000" cy="1200329"/>
          </a:xfrm>
          <a:prstGeom prst="rect">
            <a:avLst/>
          </a:prstGeom>
        </p:spPr>
        <p:txBody>
          <a:bodyPr>
            <a:spAutoFit/>
          </a:bodyPr>
          <a:lstStyle/>
          <a:p>
            <a:r>
              <a:rPr lang="en-US" dirty="0" smtClean="0"/>
              <a:t>High pump power with short EDFA fiber is used for C-band amplifiers.</a:t>
            </a:r>
          </a:p>
          <a:p>
            <a:r>
              <a:rPr lang="en-US" dirty="0" smtClean="0"/>
              <a:t>Medium pump power with long EDFA fiber is used for L-band amplifiers</a:t>
            </a:r>
            <a:endParaRPr lang="en-US" dirty="0"/>
          </a:p>
        </p:txBody>
      </p:sp>
      <p:sp>
        <p:nvSpPr>
          <p:cNvPr id="8" name="Rectangle 7"/>
          <p:cNvSpPr/>
          <p:nvPr/>
        </p:nvSpPr>
        <p:spPr>
          <a:xfrm>
            <a:off x="6096000" y="914400"/>
            <a:ext cx="1811971" cy="369332"/>
          </a:xfrm>
          <a:prstGeom prst="rect">
            <a:avLst/>
          </a:prstGeom>
        </p:spPr>
        <p:txBody>
          <a:bodyPr wrap="none">
            <a:spAutoFit/>
          </a:bodyPr>
          <a:lstStyle/>
          <a:p>
            <a:r>
              <a:rPr lang="en-US" dirty="0" smtClean="0"/>
              <a:t>forward pumping</a:t>
            </a:r>
            <a:endParaRPr lang="en-US" dirty="0"/>
          </a:p>
        </p:txBody>
      </p:sp>
      <p:sp>
        <p:nvSpPr>
          <p:cNvPr id="9" name="Rectangle 8"/>
          <p:cNvSpPr/>
          <p:nvPr/>
        </p:nvSpPr>
        <p:spPr>
          <a:xfrm>
            <a:off x="6172200" y="1371600"/>
            <a:ext cx="1761251" cy="369332"/>
          </a:xfrm>
          <a:prstGeom prst="rect">
            <a:avLst/>
          </a:prstGeom>
        </p:spPr>
        <p:txBody>
          <a:bodyPr wrap="none">
            <a:spAutoFit/>
          </a:bodyPr>
          <a:lstStyle/>
          <a:p>
            <a:r>
              <a:rPr lang="en-US" dirty="0" smtClean="0"/>
              <a:t>reverse pumping</a:t>
            </a:r>
            <a:endParaRPr lang="en-US" dirty="0"/>
          </a:p>
        </p:txBody>
      </p:sp>
      <p:sp>
        <p:nvSpPr>
          <p:cNvPr id="10" name="Rectangle 9"/>
          <p:cNvSpPr/>
          <p:nvPr/>
        </p:nvSpPr>
        <p:spPr>
          <a:xfrm>
            <a:off x="6248400" y="1752600"/>
            <a:ext cx="2304029" cy="369332"/>
          </a:xfrm>
          <a:prstGeom prst="rect">
            <a:avLst/>
          </a:prstGeom>
        </p:spPr>
        <p:txBody>
          <a:bodyPr wrap="none">
            <a:spAutoFit/>
          </a:bodyPr>
          <a:lstStyle/>
          <a:p>
            <a:r>
              <a:rPr lang="en-US" dirty="0" smtClean="0"/>
              <a:t>Bidirectional pumping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Raman Fiber Amplifiers</a:t>
            </a:r>
            <a:endParaRPr lang="en-US" dirty="0"/>
          </a:p>
        </p:txBody>
      </p:sp>
      <p:pic>
        <p:nvPicPr>
          <p:cNvPr id="11266" name="Picture 2" descr="C:\Documents and Settings\admin\My Documents\My Pictures\untitled.bmp"/>
          <p:cNvPicPr>
            <a:picLocks noGrp="1" noChangeAspect="1" noChangeArrowheads="1"/>
          </p:cNvPicPr>
          <p:nvPr>
            <p:ph idx="1"/>
          </p:nvPr>
        </p:nvPicPr>
        <p:blipFill>
          <a:blip r:embed="rId2"/>
          <a:srcRect/>
          <a:stretch>
            <a:fillRect/>
          </a:stretch>
        </p:blipFill>
        <p:spPr bwMode="auto">
          <a:xfrm>
            <a:off x="685800" y="2362200"/>
            <a:ext cx="8229600" cy="2693213"/>
          </a:xfrm>
          <a:prstGeom prst="rect">
            <a:avLst/>
          </a:prstGeom>
          <a:noFill/>
        </p:spPr>
      </p:pic>
      <p:sp>
        <p:nvSpPr>
          <p:cNvPr id="5" name="Rectangle 4"/>
          <p:cNvSpPr/>
          <p:nvPr/>
        </p:nvSpPr>
        <p:spPr>
          <a:xfrm>
            <a:off x="990600" y="1676400"/>
            <a:ext cx="7391400" cy="646331"/>
          </a:xfrm>
          <a:prstGeom prst="rect">
            <a:avLst/>
          </a:prstGeom>
        </p:spPr>
        <p:txBody>
          <a:bodyPr wrap="square">
            <a:spAutoFit/>
          </a:bodyPr>
          <a:lstStyle/>
          <a:p>
            <a:r>
              <a:rPr lang="en-US" dirty="0" smtClean="0"/>
              <a:t>The gain spectra for Raman amplification is quite broad (150 to 200 nm) and covers the entire operating S-, C-, L-, and U-bands</a:t>
            </a:r>
            <a:endParaRPr lang="en-US" dirty="0"/>
          </a:p>
        </p:txBody>
      </p:sp>
      <p:sp>
        <p:nvSpPr>
          <p:cNvPr id="6" name="Rectangle 5"/>
          <p:cNvSpPr/>
          <p:nvPr/>
        </p:nvSpPr>
        <p:spPr>
          <a:xfrm>
            <a:off x="1143000" y="5638800"/>
            <a:ext cx="6934200" cy="923330"/>
          </a:xfrm>
          <a:prstGeom prst="rect">
            <a:avLst/>
          </a:prstGeom>
        </p:spPr>
        <p:txBody>
          <a:bodyPr wrap="square">
            <a:spAutoFit/>
          </a:bodyPr>
          <a:lstStyle/>
          <a:p>
            <a:r>
              <a:rPr lang="en-US" dirty="0" smtClean="0"/>
              <a:t>The pumping can be done in forward (co-propagating) and in reverse (counter-propagating) direction. </a:t>
            </a:r>
          </a:p>
          <a:p>
            <a:r>
              <a:rPr lang="en-US" dirty="0" smtClean="0"/>
              <a:t>20- to 35-dB gain with 800 </a:t>
            </a:r>
            <a:r>
              <a:rPr lang="en-US" dirty="0" err="1" smtClean="0"/>
              <a:t>mW</a:t>
            </a:r>
            <a:r>
              <a:rPr lang="en-US" dirty="0" smtClean="0"/>
              <a:t> to 1W pump power</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a:t>
            </a:r>
            <a:endParaRPr lang="en-US" dirty="0"/>
          </a:p>
        </p:txBody>
      </p:sp>
      <p:pic>
        <p:nvPicPr>
          <p:cNvPr id="12290" name="Picture 2" descr="C:\Documents and Settings\admin\My Documents\My Pictures\untitled.bmp"/>
          <p:cNvPicPr>
            <a:picLocks noGrp="1" noChangeAspect="1" noChangeArrowheads="1"/>
          </p:cNvPicPr>
          <p:nvPr>
            <p:ph idx="1"/>
          </p:nvPr>
        </p:nvPicPr>
        <p:blipFill>
          <a:blip r:embed="rId2"/>
          <a:srcRect/>
          <a:stretch>
            <a:fillRect/>
          </a:stretch>
        </p:blipFill>
        <p:spPr bwMode="auto">
          <a:xfrm>
            <a:off x="304800" y="2034381"/>
            <a:ext cx="8077199" cy="36576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Wdm</a:t>
            </a:r>
            <a:r>
              <a:rPr lang="en-US" dirty="0" smtClean="0"/>
              <a:t> receivers</a:t>
            </a:r>
            <a:endParaRPr lang="en-US" dirty="0"/>
          </a:p>
        </p:txBody>
      </p:sp>
      <p:pic>
        <p:nvPicPr>
          <p:cNvPr id="13314" name="Picture 2" descr="C:\Documents and Settings\admin\My Documents\My Pictures\untitled.bmp"/>
          <p:cNvPicPr>
            <a:picLocks noGrp="1" noChangeAspect="1" noChangeArrowheads="1"/>
          </p:cNvPicPr>
          <p:nvPr>
            <p:ph idx="1"/>
          </p:nvPr>
        </p:nvPicPr>
        <p:blipFill>
          <a:blip r:embed="rId2"/>
          <a:srcRect/>
          <a:stretch>
            <a:fillRect/>
          </a:stretch>
        </p:blipFill>
        <p:spPr bwMode="auto">
          <a:xfrm>
            <a:off x="457200" y="2978499"/>
            <a:ext cx="8229600" cy="1769364"/>
          </a:xfrm>
          <a:prstGeom prst="rect">
            <a:avLst/>
          </a:prstGeom>
          <a:noFill/>
        </p:spPr>
      </p:pic>
      <p:sp>
        <p:nvSpPr>
          <p:cNvPr id="5" name="Rectangle 4"/>
          <p:cNvSpPr/>
          <p:nvPr/>
        </p:nvSpPr>
        <p:spPr>
          <a:xfrm>
            <a:off x="1981200" y="1447800"/>
            <a:ext cx="4572000" cy="1200329"/>
          </a:xfrm>
          <a:prstGeom prst="rect">
            <a:avLst/>
          </a:prstGeom>
        </p:spPr>
        <p:txBody>
          <a:bodyPr>
            <a:spAutoFit/>
          </a:bodyPr>
          <a:lstStyle/>
          <a:p>
            <a:r>
              <a:rPr lang="en-US" dirty="0" smtClean="0"/>
              <a:t>PIN photodiodes— Simplest and fastest</a:t>
            </a:r>
          </a:p>
          <a:p>
            <a:r>
              <a:rPr lang="en-US" dirty="0" smtClean="0"/>
              <a:t>Avalanche photodiodes (APDs)— Slower, but are much more sensitive to light as compared to PIN photodiodes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WDM Characteristics and Impairments to Transmission</a:t>
            </a:r>
            <a:endParaRPr lang="en-US" dirty="0"/>
          </a:p>
        </p:txBody>
      </p:sp>
      <p:sp>
        <p:nvSpPr>
          <p:cNvPr id="3" name="Content Placeholder 2"/>
          <p:cNvSpPr>
            <a:spLocks noGrp="1"/>
          </p:cNvSpPr>
          <p:nvPr>
            <p:ph idx="1"/>
          </p:nvPr>
        </p:nvSpPr>
        <p:spPr>
          <a:xfrm>
            <a:off x="457200" y="1600201"/>
            <a:ext cx="2667000" cy="2209800"/>
          </a:xfrm>
        </p:spPr>
        <p:txBody>
          <a:bodyPr>
            <a:normAutofit/>
          </a:bodyPr>
          <a:lstStyle/>
          <a:p>
            <a:r>
              <a:rPr lang="en-US" sz="2000" dirty="0" smtClean="0"/>
              <a:t>values are 10</a:t>
            </a:r>
            <a:r>
              <a:rPr lang="en-US" sz="2000" baseline="30000" dirty="0" smtClean="0"/>
              <a:t>–12</a:t>
            </a:r>
            <a:r>
              <a:rPr lang="en-US" sz="2000" dirty="0" smtClean="0"/>
              <a:t> BER for SONET</a:t>
            </a:r>
          </a:p>
          <a:p>
            <a:r>
              <a:rPr lang="en-US" sz="2000" dirty="0" smtClean="0"/>
              <a:t> and 10</a:t>
            </a:r>
            <a:r>
              <a:rPr lang="en-US" sz="2000" baseline="30000" dirty="0" smtClean="0"/>
              <a:t>–15</a:t>
            </a:r>
            <a:r>
              <a:rPr lang="en-US" sz="2000" dirty="0" smtClean="0"/>
              <a:t> for next-generation long-haul transport equipment</a:t>
            </a:r>
            <a:endParaRPr lang="en-US" sz="2000" dirty="0"/>
          </a:p>
        </p:txBody>
      </p:sp>
      <p:pic>
        <p:nvPicPr>
          <p:cNvPr id="15363" name="Picture 3" descr="C:\Documents and Settings\admin\My Documents\My Pictures\untitled.bmp"/>
          <p:cNvPicPr>
            <a:picLocks noChangeAspect="1" noChangeArrowheads="1"/>
          </p:cNvPicPr>
          <p:nvPr/>
        </p:nvPicPr>
        <p:blipFill>
          <a:blip r:embed="rId2"/>
          <a:srcRect/>
          <a:stretch>
            <a:fillRect/>
          </a:stretch>
        </p:blipFill>
        <p:spPr bwMode="auto">
          <a:xfrm>
            <a:off x="3962400" y="1524001"/>
            <a:ext cx="4876800" cy="3352800"/>
          </a:xfrm>
          <a:prstGeom prst="rect">
            <a:avLst/>
          </a:prstGeom>
          <a:noFill/>
        </p:spPr>
      </p:pic>
      <p:sp>
        <p:nvSpPr>
          <p:cNvPr id="6" name="Rectangle 5"/>
          <p:cNvSpPr/>
          <p:nvPr/>
        </p:nvSpPr>
        <p:spPr>
          <a:xfrm>
            <a:off x="3962400" y="4648200"/>
            <a:ext cx="4572000" cy="1754326"/>
          </a:xfrm>
          <a:prstGeom prst="rect">
            <a:avLst/>
          </a:prstGeom>
        </p:spPr>
        <p:txBody>
          <a:bodyPr>
            <a:spAutoFit/>
          </a:bodyPr>
          <a:lstStyle/>
          <a:p>
            <a:r>
              <a:rPr lang="en-US" dirty="0" smtClean="0"/>
              <a:t>An eye pattern is a sampling oscilloscope display in which a pseudorandom optical data signal from a optical receiver is repetitively sampled and applied to the vertical input, while the optical signaling rate is used to trigger the horizontal sweep.</a:t>
            </a:r>
            <a:endParaRPr lang="en-US" dirty="0"/>
          </a:p>
        </p:txBody>
      </p:sp>
      <p:sp>
        <p:nvSpPr>
          <p:cNvPr id="7" name="Rectangle 6"/>
          <p:cNvSpPr/>
          <p:nvPr/>
        </p:nvSpPr>
        <p:spPr>
          <a:xfrm>
            <a:off x="304800" y="3886200"/>
            <a:ext cx="3124200" cy="923330"/>
          </a:xfrm>
          <a:prstGeom prst="rect">
            <a:avLst/>
          </a:prstGeom>
        </p:spPr>
        <p:txBody>
          <a:bodyPr wrap="square">
            <a:spAutoFit/>
          </a:bodyPr>
          <a:lstStyle/>
          <a:p>
            <a:r>
              <a:rPr lang="en-US" dirty="0" smtClean="0"/>
              <a:t>The Q-factor is a measure of how noisy a pulse is for diagnostic purposes.</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Dispersion and Compensation in WDM</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Linear characteristics </a:t>
            </a:r>
          </a:p>
          <a:p>
            <a:r>
              <a:rPr lang="en-US" dirty="0" smtClean="0"/>
              <a:t>Attenuation</a:t>
            </a:r>
          </a:p>
          <a:p>
            <a:r>
              <a:rPr lang="en-US" dirty="0" smtClean="0"/>
              <a:t> chromatic dispersion (CD)</a:t>
            </a:r>
          </a:p>
          <a:p>
            <a:r>
              <a:rPr lang="en-US" dirty="0" smtClean="0"/>
              <a:t>polarization mode dispersion (PMD)</a:t>
            </a:r>
          </a:p>
          <a:p>
            <a:r>
              <a:rPr lang="en-US" dirty="0" smtClean="0"/>
              <a:t> whereas nonlinear characteristics </a:t>
            </a:r>
            <a:r>
              <a:rPr lang="en-US" dirty="0" err="1" smtClean="0"/>
              <a:t>i</a:t>
            </a:r>
            <a:r>
              <a:rPr lang="en-US" dirty="0" smtClean="0"/>
              <a:t> cross-phase modulation (XPM)</a:t>
            </a:r>
          </a:p>
          <a:p>
            <a:r>
              <a:rPr lang="en-US" dirty="0" smtClean="0"/>
              <a:t> four-wave mixing (FWM)</a:t>
            </a:r>
          </a:p>
          <a:p>
            <a:r>
              <a:rPr lang="en-US" dirty="0" smtClean="0"/>
              <a:t> stimulated Raman scattering (SRS)</a:t>
            </a:r>
          </a:p>
          <a:p>
            <a:r>
              <a:rPr lang="en-US" dirty="0" smtClean="0"/>
              <a:t> stimulated </a:t>
            </a:r>
            <a:r>
              <a:rPr lang="en-US" dirty="0" err="1" smtClean="0"/>
              <a:t>Brillouin</a:t>
            </a:r>
            <a:r>
              <a:rPr lang="en-US" dirty="0" smtClean="0"/>
              <a:t> scattering (SBS)</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Autofit/>
          </a:bodyPr>
          <a:lstStyle/>
          <a:p>
            <a:pPr>
              <a:buNone/>
            </a:pPr>
            <a:r>
              <a:rPr lang="en-US" sz="1800" b="1" dirty="0" smtClean="0"/>
              <a:t>The various technologies used in DCUs include the following:</a:t>
            </a:r>
          </a:p>
          <a:p>
            <a:r>
              <a:rPr lang="en-US" sz="1800" b="1" dirty="0" smtClean="0"/>
              <a:t>Dispersion-compensating fiber, Fiber Bragg </a:t>
            </a:r>
            <a:r>
              <a:rPr lang="en-US" sz="1800" b="1" dirty="0" err="1" smtClean="0"/>
              <a:t>gratings,High</a:t>
            </a:r>
            <a:r>
              <a:rPr lang="en-US" sz="1800" b="1" dirty="0" smtClean="0"/>
              <a:t>-order mode </a:t>
            </a:r>
            <a:r>
              <a:rPr lang="en-US" sz="1800" b="1" dirty="0" err="1" smtClean="0"/>
              <a:t>devices,Virtual</a:t>
            </a:r>
            <a:r>
              <a:rPr lang="en-US" sz="1800" b="1" dirty="0" smtClean="0"/>
              <a:t> image phase array (VIPA) is a free-space dispersion device.</a:t>
            </a:r>
          </a:p>
          <a:p>
            <a:pPr>
              <a:buNone/>
            </a:pPr>
            <a:endParaRPr lang="en-US" sz="1800" b="1" dirty="0" smtClean="0"/>
          </a:p>
          <a:p>
            <a:pPr>
              <a:buNone/>
            </a:pPr>
            <a:r>
              <a:rPr lang="en-US" sz="1800" b="1" dirty="0" smtClean="0"/>
              <a:t>The dispersion limit of the system depends on many factors:</a:t>
            </a:r>
          </a:p>
          <a:p>
            <a:pPr>
              <a:buNone/>
            </a:pPr>
            <a:r>
              <a:rPr lang="en-US" sz="1800" b="1" dirty="0" smtClean="0"/>
              <a:t>	Receiver tolerance.</a:t>
            </a:r>
          </a:p>
          <a:p>
            <a:r>
              <a:rPr lang="en-US" sz="1800" b="1" dirty="0" smtClean="0"/>
              <a:t>- Depends on pulse type; NRZ is better than RZ pulses.</a:t>
            </a:r>
          </a:p>
          <a:p>
            <a:r>
              <a:rPr lang="en-US" sz="1800" b="1" dirty="0" smtClean="0"/>
              <a:t>- Depends on data rate.</a:t>
            </a:r>
          </a:p>
          <a:p>
            <a:r>
              <a:rPr lang="en-US" sz="1800" b="1" dirty="0" smtClean="0"/>
              <a:t>- Depends on transmitter chirp.</a:t>
            </a:r>
          </a:p>
          <a:p>
            <a:pPr>
              <a:buNone/>
            </a:pPr>
            <a:endParaRPr lang="en-US" sz="1800" b="1" dirty="0" smtClean="0"/>
          </a:p>
          <a:p>
            <a:pPr>
              <a:buNone/>
            </a:pPr>
            <a:r>
              <a:rPr lang="en-US" sz="1800" b="1" dirty="0" smtClean="0"/>
              <a:t>	Variability of fiber dispersion.</a:t>
            </a:r>
          </a:p>
          <a:p>
            <a:r>
              <a:rPr lang="en-US" sz="1800" b="1" dirty="0" smtClean="0"/>
              <a:t>- Dispersion of fiber has a range of values.</a:t>
            </a:r>
          </a:p>
          <a:p>
            <a:r>
              <a:rPr lang="en-US" sz="1800" b="1" dirty="0" smtClean="0"/>
              <a:t>- Some temperature dependence occurs.</a:t>
            </a:r>
          </a:p>
          <a:p>
            <a:endParaRPr lang="en-US" sz="1800" b="1" dirty="0" smtClean="0"/>
          </a:p>
          <a:p>
            <a:pPr>
              <a:buNone/>
            </a:pPr>
            <a:r>
              <a:rPr lang="en-US" sz="1800" b="1" dirty="0"/>
              <a:t>	</a:t>
            </a:r>
            <a:r>
              <a:rPr lang="en-US" sz="1800" b="1" dirty="0" smtClean="0"/>
              <a:t>Variability of DCU values-- Includes slope of dispersion and manufacturing tolerances.</a:t>
            </a:r>
          </a:p>
          <a:p>
            <a:endParaRPr lang="en-US" sz="1800" b="1" dirty="0" smtClean="0"/>
          </a:p>
          <a:p>
            <a:pPr>
              <a:buNone/>
            </a:pPr>
            <a:r>
              <a:rPr lang="en-US" sz="1800" b="1" dirty="0"/>
              <a:t>	</a:t>
            </a:r>
            <a:r>
              <a:rPr lang="en-US" sz="1800" b="1" dirty="0" smtClean="0"/>
              <a:t>Variability of components in network elements.</a:t>
            </a:r>
          </a:p>
          <a:p>
            <a:r>
              <a:rPr lang="en-US" sz="1800" b="1" dirty="0" smtClean="0"/>
              <a:t>Receiver dispersion tolerance must be less than the sum of dispersion variances.</a:t>
            </a:r>
          </a:p>
          <a:p>
            <a:endParaRPr lang="en-US" sz="18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1799</Words>
  <Application>Microsoft Office PowerPoint</Application>
  <PresentationFormat>On-screen Show (4:3)</PresentationFormat>
  <Paragraphs>192</Paragraphs>
  <Slides>32</Slides>
  <Notes>3</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WDM</vt:lpstr>
      <vt:lpstr>WDM SYSTEMS</vt:lpstr>
      <vt:lpstr>Coarse Wavelength-Division Multiplexing</vt:lpstr>
      <vt:lpstr>Dense Wavelength-Division Multiplexing </vt:lpstr>
      <vt:lpstr>Slide 5</vt:lpstr>
      <vt:lpstr>optical frequency bands used with various WDM systems</vt:lpstr>
      <vt:lpstr>WDM COMPONENTS</vt:lpstr>
      <vt:lpstr>Distributed Feedback Lasers (1st generation) Arrayed DFB-1 to 10 milliseconds (ms) of tuning time</vt:lpstr>
      <vt:lpstr>Distributed Bragg Reflector Lasers (1st generation)</vt:lpstr>
      <vt:lpstr>Mechanical Tunable Lasers </vt:lpstr>
      <vt:lpstr>External Cavity Tunable Lasers</vt:lpstr>
      <vt:lpstr>Vertical Cavity Surface Emitting Lasers</vt:lpstr>
      <vt:lpstr>Chirp</vt:lpstr>
      <vt:lpstr>Direct Modulation</vt:lpstr>
      <vt:lpstr>External Modulation</vt:lpstr>
      <vt:lpstr>Optical Multiplexers and Multiplexers</vt:lpstr>
      <vt:lpstr>Thin film filters metro DWDM products, whereas there are only 50 layers in a  20-nm filter </vt:lpstr>
      <vt:lpstr>Fiber Bragg Grating (ultraviolet radiation to create periodic changes in the refractive index of the fiber)</vt:lpstr>
      <vt:lpstr>Arrayed Waveguide(multiplexers and switching systems) tuning time -10 ms-thermo-optic tuning mechanisms</vt:lpstr>
      <vt:lpstr>Fabry Perot Cavity Filter</vt:lpstr>
      <vt:lpstr>Acousto Optical Tunable Filter</vt:lpstr>
      <vt:lpstr>Mach-Zehnder Interferometers</vt:lpstr>
      <vt:lpstr>Couple. rs, Circulators, and Isolators(optical power transfer device)</vt:lpstr>
      <vt:lpstr>Amplifiers </vt:lpstr>
      <vt:lpstr>Optical amplifiers</vt:lpstr>
      <vt:lpstr>Erbium-Doped Fiber Amplifiers </vt:lpstr>
      <vt:lpstr>Raman Fiber Amplifiers</vt:lpstr>
      <vt:lpstr>comparison</vt:lpstr>
      <vt:lpstr>Wdm receivers</vt:lpstr>
      <vt:lpstr>WDM Characteristics and Impairments to Transmission</vt:lpstr>
      <vt:lpstr> Dispersion and Compensation in WDM </vt:lpstr>
      <vt:lpstr>Slide 32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dc:creator>
  <cp:lastModifiedBy> </cp:lastModifiedBy>
  <cp:revision>17</cp:revision>
  <dcterms:created xsi:type="dcterms:W3CDTF">2010-10-10T15:42:58Z</dcterms:created>
  <dcterms:modified xsi:type="dcterms:W3CDTF">2010-10-10T17:40:19Z</dcterms:modified>
</cp:coreProperties>
</file>