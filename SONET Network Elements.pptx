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81"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10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603755A-BD4F-424E-A8F4-969C8565B098}" type="datetimeFigureOut">
              <a:rPr lang="en-US" smtClean="0"/>
              <a:pPr/>
              <a:t>2/27/2012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03755A-BD4F-424E-A8F4-969C8565B098}" type="datetimeFigureOut">
              <a:rPr lang="en-US" smtClean="0"/>
              <a:pPr/>
              <a:t>2/27/2012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603755A-BD4F-424E-A8F4-969C8565B098}" type="datetimeFigureOut">
              <a:rPr lang="en-US" smtClean="0"/>
              <a:pPr/>
              <a:t>2/27/2012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603755A-BD4F-424E-A8F4-969C8565B098}" type="datetimeFigureOut">
              <a:rPr lang="en-US" smtClean="0"/>
              <a:pPr/>
              <a:t>2/27/2012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603755A-BD4F-424E-A8F4-969C8565B098}" type="datetimeFigureOut">
              <a:rPr lang="en-US" smtClean="0"/>
              <a:pPr/>
              <a:t>2/27/2012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603755A-BD4F-424E-A8F4-969C8565B098}" type="datetimeFigureOut">
              <a:rPr lang="en-US" smtClean="0"/>
              <a:pPr/>
              <a:t>2/27/2012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3755A-BD4F-424E-A8F4-969C8565B098}" type="datetimeFigureOut">
              <a:rPr lang="en-US" smtClean="0"/>
              <a:pPr/>
              <a:t>2/27/2012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03755A-BD4F-424E-A8F4-969C8565B098}" type="datetimeFigureOut">
              <a:rPr lang="en-US" smtClean="0"/>
              <a:pPr/>
              <a:t>2/27/2012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03755A-BD4F-424E-A8F4-969C8565B098}" type="datetimeFigureOut">
              <a:rPr lang="en-US" smtClean="0"/>
              <a:pPr/>
              <a:t>2/27/2012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03755A-BD4F-424E-A8F4-969C8565B098}" type="datetimeFigureOut">
              <a:rPr lang="en-US" smtClean="0"/>
              <a:pPr/>
              <a:t>2/27/2012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603755A-BD4F-424E-A8F4-969C8565B098}" type="datetimeFigureOut">
              <a:rPr lang="en-US" smtClean="0"/>
              <a:pPr/>
              <a:t>2/27/2012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34811B-DAF5-4D18-B479-314253B7909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03755A-BD4F-424E-A8F4-969C8565B098}" type="datetimeFigureOut">
              <a:rPr lang="en-US" smtClean="0"/>
              <a:pPr/>
              <a:t>2/27/2012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34811B-DAF5-4D18-B479-314253B7909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k:@MSITStore:C:\Documents%20and%20Settings\admin\Desktop\Cisco.Press.Optical.Network.Design.and.Implementation.eBook.chm::/1587051052/gloss01div14.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SONET Network Elements</a:t>
            </a:r>
            <a:endParaRPr lang="en-US" dirty="0"/>
          </a:p>
        </p:txBody>
      </p:sp>
      <p:sp>
        <p:nvSpPr>
          <p:cNvPr id="3" name="Subtitle 2"/>
          <p:cNvSpPr>
            <a:spLocks noGrp="1"/>
          </p:cNvSpPr>
          <p:nvPr>
            <p:ph type="subTitle" idx="1"/>
          </p:nvPr>
        </p:nvSpPr>
        <p:spPr/>
        <p:txBody>
          <a:bodyPr/>
          <a:lstStyle/>
          <a:p>
            <a:r>
              <a:rPr lang="en-US" dirty="0" smtClean="0"/>
              <a:t>A.SANGEETHA</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Regenerator</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regenerator is an STE that regenerates attenuated signals. </a:t>
            </a:r>
          </a:p>
          <a:p>
            <a:r>
              <a:rPr lang="en-US" dirty="0" smtClean="0"/>
              <a:t>A regenerator or amplifier is needed when, due to the long distance between multiplexers, the signal level in the fiber gets attenuated and becomes too low to drive a receiver.</a:t>
            </a:r>
          </a:p>
          <a:p>
            <a:r>
              <a:rPr lang="en-US" dirty="0" smtClean="0"/>
              <a:t> The regenerator clocks itself off of the received signal and replaces the SOH bytes before retransmitting the signal. The LOH, payload, and POH are not altered. </a:t>
            </a:r>
          </a:p>
          <a:p>
            <a:r>
              <a:rPr lang="en-US" dirty="0" smtClean="0"/>
              <a:t>The regenerator is sometimes called a </a:t>
            </a:r>
            <a:r>
              <a:rPr lang="en-US" i="1" dirty="0" smtClean="0">
                <a:hlinkClick r:id="rId2"/>
              </a:rPr>
              <a:t>repeater</a:t>
            </a:r>
            <a:r>
              <a:rPr lang="en-US" dirty="0" smtClean="0"/>
              <a:t>. </a:t>
            </a:r>
          </a:p>
          <a:p>
            <a:r>
              <a:rPr lang="en-US" dirty="0" smtClean="0"/>
              <a:t>Regenerators can be cascaded to extend the reach of the optical-fiber system. </a:t>
            </a:r>
          </a:p>
          <a:p>
            <a:r>
              <a:rPr lang="en-US" dirty="0" smtClean="0"/>
              <a:t>However, nonlinear impairments must be taken into consideration while cascading regenerators.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Terminal Multiplexer</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1066800" y="1600200"/>
            <a:ext cx="6781800" cy="48768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Terminal Multiplexer</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terminal multiplexer (TM) is a PTE that can concentrate or aggregate DS1s, DS3s, E1s, E3s, STS-Ns, and STM-Ns. An implementation with two TMs represents a SONET link with a section, line, and path all in one link. The schematic of a TM is shown in Figure 5-21. </a:t>
            </a:r>
          </a:p>
          <a:p>
            <a:r>
              <a:rPr lang="en-US" dirty="0" smtClean="0"/>
              <a:t>Various PDH signals, such as DS1, E1, DS3, are mapped to their associated SONET electrical payloads in the TM. For example, DS1 signals are mapped to VT1.5s, and DS3 signals are mapped to STS-1 SPEs. </a:t>
            </a:r>
          </a:p>
          <a:p>
            <a:r>
              <a:rPr lang="en-US" dirty="0" smtClean="0"/>
              <a:t>An EO conversion takes place, and the OC-N signals are launched into the fiber. The reverse happens during signal reception. In practice, the TM Is an ADM operating in terminal mode. The TM is analogous to the channel bank in the TDM world and allows lower-speed user access to the SONET network.</a:t>
            </a:r>
          </a:p>
          <a:p>
            <a:pPr lvl="4"/>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Add/Drop Multiplexer</a:t>
            </a:r>
            <a:endParaRPr lang="en-US" b="1"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533400" y="1143000"/>
            <a:ext cx="8229600" cy="3415284"/>
          </a:xfrm>
          <a:prstGeom prst="rect">
            <a:avLst/>
          </a:prstGeom>
          <a:noFill/>
          <a:ln w="9525">
            <a:noFill/>
            <a:miter lim="800000"/>
            <a:headEnd/>
            <a:tailEnd/>
          </a:ln>
          <a:effectLst/>
        </p:spPr>
      </p:pic>
      <p:sp>
        <p:nvSpPr>
          <p:cNvPr id="5" name="Rectangle 4"/>
          <p:cNvSpPr/>
          <p:nvPr/>
        </p:nvSpPr>
        <p:spPr>
          <a:xfrm>
            <a:off x="457200" y="4724400"/>
            <a:ext cx="8077200" cy="1477328"/>
          </a:xfrm>
          <a:prstGeom prst="rect">
            <a:avLst/>
          </a:prstGeom>
        </p:spPr>
        <p:txBody>
          <a:bodyPr wrap="square">
            <a:spAutoFit/>
          </a:bodyPr>
          <a:lstStyle/>
          <a:p>
            <a:r>
              <a:rPr lang="en-US" dirty="0" smtClean="0"/>
              <a:t>An ADM is a PTE that can multiplex or </a:t>
            </a:r>
            <a:r>
              <a:rPr lang="en-US" dirty="0" err="1" smtClean="0"/>
              <a:t>demultiplex</a:t>
            </a:r>
            <a:r>
              <a:rPr lang="en-US" dirty="0" smtClean="0"/>
              <a:t> various signals to or from an OC-N signal. At an add/drop site, only those signals that need to be accessed are dropped or inserted. The remaining traffic continues through the NE without requiring special pass-through units or other signal processing. Signals can also be looped or terminated at the ADM</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BROADBAND CROSSCONNECT</a:t>
            </a: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685800" y="1219200"/>
            <a:ext cx="7486650" cy="3048000"/>
          </a:xfrm>
          <a:prstGeom prst="rect">
            <a:avLst/>
          </a:prstGeom>
          <a:noFill/>
          <a:ln w="9525">
            <a:noFill/>
            <a:miter lim="800000"/>
            <a:headEnd/>
            <a:tailEnd/>
          </a:ln>
        </p:spPr>
      </p:pic>
      <p:sp>
        <p:nvSpPr>
          <p:cNvPr id="5" name="Rectangle 4"/>
          <p:cNvSpPr/>
          <p:nvPr/>
        </p:nvSpPr>
        <p:spPr>
          <a:xfrm>
            <a:off x="609600" y="4495800"/>
            <a:ext cx="7848600" cy="1477328"/>
          </a:xfrm>
          <a:prstGeom prst="rect">
            <a:avLst/>
          </a:prstGeom>
        </p:spPr>
        <p:txBody>
          <a:bodyPr wrap="square">
            <a:spAutoFit/>
          </a:bodyPr>
          <a:lstStyle/>
          <a:p>
            <a:r>
              <a:rPr lang="en-US" dirty="0" smtClean="0"/>
              <a:t>The broadband digital cross-connect (BDCS) can make two-way cross-connections at the DS3, STS-1, and STS-</a:t>
            </a:r>
            <a:r>
              <a:rPr lang="en-US" dirty="0" err="1" smtClean="0"/>
              <a:t>Nc</a:t>
            </a:r>
            <a:r>
              <a:rPr lang="en-US" dirty="0" smtClean="0"/>
              <a:t> levels. </a:t>
            </a:r>
            <a:endParaRPr lang="en-US" dirty="0" smtClean="0"/>
          </a:p>
          <a:p>
            <a:r>
              <a:rPr lang="en-US" dirty="0" smtClean="0"/>
              <a:t>It </a:t>
            </a:r>
            <a:r>
              <a:rPr lang="en-US" dirty="0" smtClean="0"/>
              <a:t>can interface various SONET signals and DS3s. </a:t>
            </a:r>
            <a:endParaRPr lang="en-US" dirty="0" smtClean="0"/>
          </a:p>
          <a:p>
            <a:r>
              <a:rPr lang="en-US" dirty="0" smtClean="0"/>
              <a:t>The </a:t>
            </a:r>
            <a:r>
              <a:rPr lang="en-US" dirty="0" smtClean="0"/>
              <a:t>BDCS is the synchronous equivalent of a DS3 digital access and cross-connect system (DACS) and supports hub-network architectures.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Wideband Digital Cross-Connect</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990600" y="1447800"/>
            <a:ext cx="6705600" cy="4876799"/>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Wideband Digital Cross-Connect</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WDCS is suitable for DS1-level grooming applications at hub locations.</a:t>
            </a:r>
            <a:br>
              <a:rPr lang="en-US" dirty="0" smtClean="0"/>
            </a:br>
            <a:r>
              <a:rPr lang="en-US" dirty="0" smtClean="0"/>
              <a:t> One major advantage of the WDCS is that less </a:t>
            </a:r>
            <a:r>
              <a:rPr lang="en-US" dirty="0" err="1" smtClean="0"/>
              <a:t>demultiplexing</a:t>
            </a:r>
            <a:r>
              <a:rPr lang="en-US" dirty="0" smtClean="0"/>
              <a:t> and multiplexing is required because only the required tributaries are accessed and switched. </a:t>
            </a:r>
          </a:p>
          <a:p>
            <a:r>
              <a:rPr lang="en-US" dirty="0" smtClean="0"/>
              <a:t>Because SONET is synchronous, the low-speed tributaries are visible and accessible within the STS-1 signal. Therefore, the required tributaries can be accessed and switched without </a:t>
            </a:r>
            <a:r>
              <a:rPr lang="en-US" dirty="0" err="1" smtClean="0"/>
              <a:t>demultiplexing</a:t>
            </a:r>
            <a:r>
              <a:rPr lang="en-US" dirty="0" smtClean="0"/>
              <a:t>, which isn't possible with existing TDM digital cross-connects. </a:t>
            </a:r>
          </a:p>
          <a:p>
            <a:r>
              <a:rPr lang="en-US" dirty="0" smtClean="0"/>
              <a:t>The WDCS also cross-connects the constituent DS1s between DS3 terminations, as well as between DS3 and DS1 terminations. </a:t>
            </a:r>
          </a:p>
          <a:p>
            <a:r>
              <a:rPr lang="en-US" dirty="0" smtClean="0"/>
              <a:t>The features of the WDCS make it useful in several applications. Because the WDCS can automatically cross-connect VTs and DS1s, it can be used as a network management system and for grooming at hub locations.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Digital Loop Carrier</a:t>
            </a:r>
            <a:endParaRPr lang="en-US"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762000" y="2057400"/>
            <a:ext cx="7543800" cy="39624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Digital Loop Carrier</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From a voice perspective, the DLC may be considered a concentrator of low-speed services before they are brought into the local CO for switching or distribution. The concentration can be achieved using a combination of multiplexing and intelligent GR.303 concentration.</a:t>
            </a:r>
          </a:p>
          <a:p>
            <a:r>
              <a:rPr lang="en-US" dirty="0" smtClean="0"/>
              <a:t> If concentration were not performed, the number of subscribers that a CO could serve would be limited by the number of physical lines served by the CO. </a:t>
            </a:r>
          </a:p>
          <a:p>
            <a:r>
              <a:rPr lang="en-US" dirty="0" smtClean="0"/>
              <a:t>The DLC itself is actually a system of multiplexers and switches designed to perform concentration from the remote terminals to the CO. The DLC devices are referred to as remote fiber terminals (RFTs) by several optical vendors.</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Multiservice Provisioning Platforms (MSPPs)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Multiservice provisioning platforms (MSPPs) combine the </a:t>
            </a:r>
            <a:r>
              <a:rPr lang="en-US" dirty="0" smtClean="0">
                <a:solidFill>
                  <a:srgbClr val="FF0000"/>
                </a:solidFill>
              </a:rPr>
              <a:t>functionality of the SONET ADM, BDCS, and WDCS NEs in a single platform. T</a:t>
            </a:r>
            <a:r>
              <a:rPr lang="en-US" dirty="0" smtClean="0"/>
              <a:t>he platform also integrates Ethernet services and DWDM functionality in the box.</a:t>
            </a:r>
          </a:p>
          <a:p>
            <a:r>
              <a:rPr lang="en-US" dirty="0" smtClean="0"/>
              <a:t> The MSPP </a:t>
            </a:r>
            <a:r>
              <a:rPr lang="en-US" dirty="0" smtClean="0">
                <a:solidFill>
                  <a:srgbClr val="FF0000"/>
                </a:solidFill>
              </a:rPr>
              <a:t>provides TDM solutions with interfaces, such as DS1, DS3, EC1, and data solutions with 10/100/1000 Ethernet solutions along with OC-3 to OC-192 optical transport bit rates including integrated DWDM wavelengths.</a:t>
            </a:r>
          </a:p>
          <a:p>
            <a:r>
              <a:rPr lang="en-US" dirty="0" smtClean="0"/>
              <a:t> The MSPP supports various SONET topologies including </a:t>
            </a:r>
            <a:r>
              <a:rPr lang="en-US" dirty="0" smtClean="0">
                <a:solidFill>
                  <a:srgbClr val="FF0000"/>
                </a:solidFill>
              </a:rPr>
              <a:t>ring, linear point-to point, linear add/drop, star, and hybrid topologies.</a:t>
            </a:r>
            <a:r>
              <a:rPr lang="en-US" dirty="0" smtClean="0"/>
              <a:t> The protection and restoration choices include </a:t>
            </a:r>
            <a:r>
              <a:rPr lang="en-US" dirty="0" smtClean="0">
                <a:solidFill>
                  <a:srgbClr val="FF0000"/>
                </a:solidFill>
              </a:rPr>
              <a:t>unidirectional path-switched ring (UPSR), two-fiber and four-fiber bidirectional line-switched ring (BLSR), 1+1 APS, unprotected span, and the Cisco Path Protected Mesh Networking (PPMN). </a:t>
            </a:r>
          </a:p>
          <a:p>
            <a:r>
              <a:rPr lang="en-US" dirty="0" smtClean="0"/>
              <a:t>The MSPP devices are easily configurable using integrated graphical user interface (GUI)-based tools and are fully manageable using element management systems.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SONET Topologies</a:t>
            </a:r>
            <a:endParaRPr 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533400" y="1981200"/>
            <a:ext cx="8229600" cy="1769364"/>
          </a:xfrm>
          <a:prstGeom prst="rect">
            <a:avLst/>
          </a:prstGeom>
          <a:noFill/>
          <a:ln w="9525">
            <a:noFill/>
            <a:miter lim="800000"/>
            <a:headEnd/>
            <a:tailEnd/>
          </a:ln>
          <a:effectLst/>
        </p:spPr>
      </p:pic>
      <p:sp>
        <p:nvSpPr>
          <p:cNvPr id="5" name="Rectangle 4"/>
          <p:cNvSpPr/>
          <p:nvPr/>
        </p:nvSpPr>
        <p:spPr>
          <a:xfrm>
            <a:off x="3200400" y="1447800"/>
            <a:ext cx="2443105" cy="369332"/>
          </a:xfrm>
          <a:prstGeom prst="rect">
            <a:avLst/>
          </a:prstGeom>
        </p:spPr>
        <p:txBody>
          <a:bodyPr wrap="none">
            <a:spAutoFit/>
          </a:bodyPr>
          <a:lstStyle/>
          <a:p>
            <a:r>
              <a:rPr lang="en-US" b="1" dirty="0" smtClean="0"/>
              <a:t>Point-to-Point Topology</a:t>
            </a:r>
            <a:endParaRPr lang="en-US" dirty="0"/>
          </a:p>
        </p:txBody>
      </p:sp>
      <p:sp>
        <p:nvSpPr>
          <p:cNvPr id="6" name="Rectangle 5"/>
          <p:cNvSpPr/>
          <p:nvPr/>
        </p:nvSpPr>
        <p:spPr>
          <a:xfrm>
            <a:off x="457200" y="3733800"/>
            <a:ext cx="8001000" cy="2585323"/>
          </a:xfrm>
          <a:prstGeom prst="rect">
            <a:avLst/>
          </a:prstGeom>
        </p:spPr>
        <p:txBody>
          <a:bodyPr wrap="square">
            <a:spAutoFit/>
          </a:bodyPr>
          <a:lstStyle/>
          <a:p>
            <a:r>
              <a:rPr lang="en-US" dirty="0" smtClean="0"/>
              <a:t>Point-to-point topologies are created by connecting two SONET PTEs back to back over dark fiber. </a:t>
            </a:r>
            <a:r>
              <a:rPr lang="en-US" dirty="0" smtClean="0"/>
              <a:t>a </a:t>
            </a:r>
            <a:r>
              <a:rPr lang="en-US" dirty="0" smtClean="0"/>
              <a:t>point-to-point deployment involves two PTE ADMs or TMs linked by fiber with or without an STE regenerator in the link. The TM could act as a DS1 concentrator and transport the DS1s over an OC-N link. The synchronous island can coexist within an asynchronous domain. Point-to-point topologies are extremely popular to provide storage-area network (SAN) interconnectivity between datacenters. Albeit, SAN protocols, such as ESCON, FICON, or </a:t>
            </a:r>
            <a:r>
              <a:rPr lang="en-US" dirty="0" err="1" smtClean="0"/>
              <a:t>Fibre</a:t>
            </a:r>
            <a:r>
              <a:rPr lang="en-US" dirty="0" smtClean="0"/>
              <a:t> Channel, use 1.25- or 2.125-Gbps channels over DWDM systems. The system always terminates the link using a next-generation TM, such as an MSPP.</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143000"/>
          </a:xfrm>
        </p:spPr>
        <p:txBody>
          <a:bodyPr/>
          <a:lstStyle/>
          <a:p>
            <a:r>
              <a:rPr lang="en-US" b="1" dirty="0" smtClean="0"/>
              <a:t>Point-to-Multipoint Topology</a:t>
            </a:r>
            <a:endParaRPr lang="en-US"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533400" y="1295400"/>
            <a:ext cx="8229600" cy="2040941"/>
          </a:xfrm>
          <a:prstGeom prst="rect">
            <a:avLst/>
          </a:prstGeom>
          <a:noFill/>
          <a:ln w="9525">
            <a:noFill/>
            <a:miter lim="800000"/>
            <a:headEnd/>
            <a:tailEnd/>
          </a:ln>
          <a:effectLst/>
        </p:spPr>
      </p:pic>
      <p:sp>
        <p:nvSpPr>
          <p:cNvPr id="5" name="Rectangle 4"/>
          <p:cNvSpPr/>
          <p:nvPr/>
        </p:nvSpPr>
        <p:spPr>
          <a:xfrm>
            <a:off x="762000" y="3441680"/>
            <a:ext cx="7315200" cy="2031325"/>
          </a:xfrm>
          <a:prstGeom prst="rect">
            <a:avLst/>
          </a:prstGeom>
        </p:spPr>
        <p:txBody>
          <a:bodyPr wrap="square">
            <a:spAutoFit/>
          </a:bodyPr>
          <a:lstStyle/>
          <a:p>
            <a:r>
              <a:rPr lang="en-US" dirty="0" smtClean="0"/>
              <a:t>ADM is a unique NE specifically designed for this task. the ADM is typically placed along a SONET link to facilitate adding and dropping of tributary or STS channels at intermediate points in the network. </a:t>
            </a:r>
          </a:p>
          <a:p>
            <a:r>
              <a:rPr lang="en-US" dirty="0" smtClean="0"/>
              <a:t>The point-to-multipoint topology is also referred to as a linear add/drop architecture. This topology is implemented for medium- and long-haul linear SONET architectures, where the service provider might have to add or drop circuits on the way to the destination.</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Hub Topology</a:t>
            </a:r>
            <a:endParaRPr lang="en-US" dirty="0"/>
          </a:p>
        </p:txBody>
      </p:sp>
      <p:pic>
        <p:nvPicPr>
          <p:cNvPr id="8194" name="Picture 2"/>
          <p:cNvPicPr>
            <a:picLocks noGrp="1" noChangeAspect="1" noChangeArrowheads="1"/>
          </p:cNvPicPr>
          <p:nvPr>
            <p:ph idx="1"/>
          </p:nvPr>
        </p:nvPicPr>
        <p:blipFill>
          <a:blip r:embed="rId2" cstate="print"/>
          <a:srcRect/>
          <a:stretch>
            <a:fillRect/>
          </a:stretch>
        </p:blipFill>
        <p:spPr bwMode="auto">
          <a:xfrm>
            <a:off x="868266" y="1600200"/>
            <a:ext cx="7407468" cy="4525963"/>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Ring Topology</a:t>
            </a:r>
            <a:endParaRPr lang="en-US"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914400" y="1600200"/>
            <a:ext cx="7239000" cy="4525963"/>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Mesh Topology</a:t>
            </a:r>
            <a:endParaRPr lang="en-US"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762000" y="1295400"/>
            <a:ext cx="7543800" cy="4818856"/>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SONET Ring Architectures</a:t>
            </a:r>
            <a:endParaRPr lang="en-US" dirty="0"/>
          </a:p>
        </p:txBody>
      </p:sp>
      <p:pic>
        <p:nvPicPr>
          <p:cNvPr id="11266" name="Picture 2"/>
          <p:cNvPicPr>
            <a:picLocks noGrp="1" noChangeAspect="1" noChangeArrowheads="1"/>
          </p:cNvPicPr>
          <p:nvPr>
            <p:ph idx="1"/>
          </p:nvPr>
        </p:nvPicPr>
        <p:blipFill>
          <a:blip r:embed="rId2" cstate="print"/>
          <a:srcRect/>
          <a:stretch>
            <a:fillRect/>
          </a:stretch>
        </p:blipFill>
        <p:spPr bwMode="auto">
          <a:xfrm>
            <a:off x="1295400" y="1600994"/>
            <a:ext cx="6324600" cy="4524375"/>
          </a:xfrm>
          <a:prstGeom prst="rect">
            <a:avLst/>
          </a:prstGeom>
          <a:noFill/>
          <a:ln w="9525">
            <a:noFill/>
            <a:miter lim="800000"/>
            <a:headEnd/>
            <a:tailEnd/>
          </a:ln>
          <a:effectLst/>
        </p:spPr>
      </p:pic>
      <p:sp>
        <p:nvSpPr>
          <p:cNvPr id="5" name="Rectangle 4"/>
          <p:cNvSpPr/>
          <p:nvPr/>
        </p:nvSpPr>
        <p:spPr>
          <a:xfrm>
            <a:off x="304800" y="1143000"/>
            <a:ext cx="4040914" cy="369332"/>
          </a:xfrm>
          <a:prstGeom prst="rect">
            <a:avLst/>
          </a:prstGeom>
        </p:spPr>
        <p:txBody>
          <a:bodyPr wrap="none">
            <a:spAutoFit/>
          </a:bodyPr>
          <a:lstStyle/>
          <a:p>
            <a:r>
              <a:rPr lang="en-US" b="1" dirty="0" smtClean="0"/>
              <a:t>Unidirectional Versus Bidirectional Rings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Two-Fiber Unidirectional Ring</a:t>
            </a:r>
            <a:endParaRPr lang="en-US" dirty="0"/>
          </a:p>
        </p:txBody>
      </p:sp>
      <p:pic>
        <p:nvPicPr>
          <p:cNvPr id="12290" name="Picture 2"/>
          <p:cNvPicPr>
            <a:picLocks noGrp="1" noChangeAspect="1" noChangeArrowheads="1"/>
          </p:cNvPicPr>
          <p:nvPr>
            <p:ph idx="1"/>
          </p:nvPr>
        </p:nvPicPr>
        <p:blipFill>
          <a:blip r:embed="rId2" cstate="print"/>
          <a:srcRect/>
          <a:stretch>
            <a:fillRect/>
          </a:stretch>
        </p:blipFill>
        <p:spPr bwMode="auto">
          <a:xfrm>
            <a:off x="457200" y="2567019"/>
            <a:ext cx="8229600" cy="2592324"/>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Two-Fiber Bidirectional Ring</a:t>
            </a:r>
            <a:endParaRPr lang="en-US" dirty="0"/>
          </a:p>
        </p:txBody>
      </p:sp>
      <p:pic>
        <p:nvPicPr>
          <p:cNvPr id="13314" name="Picture 2"/>
          <p:cNvPicPr>
            <a:picLocks noGrp="1" noChangeAspect="1" noChangeArrowheads="1"/>
          </p:cNvPicPr>
          <p:nvPr>
            <p:ph idx="1"/>
          </p:nvPr>
        </p:nvPicPr>
        <p:blipFill>
          <a:blip r:embed="rId2" cstate="print"/>
          <a:srcRect/>
          <a:stretch>
            <a:fillRect/>
          </a:stretch>
        </p:blipFill>
        <p:spPr bwMode="auto">
          <a:xfrm>
            <a:off x="457200" y="2180228"/>
            <a:ext cx="8229600" cy="3365906"/>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Four-Fiber Bidirectional Ring</a:t>
            </a:r>
            <a:endParaRPr lang="en-US" dirty="0"/>
          </a:p>
        </p:txBody>
      </p:sp>
      <p:pic>
        <p:nvPicPr>
          <p:cNvPr id="14338" name="Picture 2"/>
          <p:cNvPicPr>
            <a:picLocks noGrp="1" noChangeAspect="1" noChangeArrowheads="1"/>
          </p:cNvPicPr>
          <p:nvPr>
            <p:ph idx="1"/>
          </p:nvPr>
        </p:nvPicPr>
        <p:blipFill>
          <a:blip r:embed="rId2" cstate="print"/>
          <a:srcRect/>
          <a:stretch>
            <a:fillRect/>
          </a:stretch>
        </p:blipFill>
        <p:spPr bwMode="auto">
          <a:xfrm>
            <a:off x="457200" y="2077358"/>
            <a:ext cx="8229600" cy="3571646"/>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Path Switching</a:t>
            </a:r>
            <a:endParaRPr lang="en-US" dirty="0"/>
          </a:p>
        </p:txBody>
      </p:sp>
      <p:pic>
        <p:nvPicPr>
          <p:cNvPr id="15362" name="Picture 2"/>
          <p:cNvPicPr>
            <a:picLocks noGrp="1" noChangeAspect="1" noChangeArrowheads="1"/>
          </p:cNvPicPr>
          <p:nvPr>
            <p:ph idx="1"/>
          </p:nvPr>
        </p:nvPicPr>
        <p:blipFill>
          <a:blip r:embed="rId2" cstate="print"/>
          <a:srcRect/>
          <a:stretch>
            <a:fillRect/>
          </a:stretch>
        </p:blipFill>
        <p:spPr bwMode="auto">
          <a:xfrm>
            <a:off x="457200" y="2970270"/>
            <a:ext cx="8229600" cy="1785823"/>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Line Switching</a:t>
            </a:r>
            <a:endParaRPr lang="en-US" dirty="0"/>
          </a:p>
        </p:txBody>
      </p:sp>
      <p:pic>
        <p:nvPicPr>
          <p:cNvPr id="16386" name="Picture 2"/>
          <p:cNvPicPr>
            <a:picLocks noGrp="1" noChangeAspect="1" noChangeArrowheads="1"/>
          </p:cNvPicPr>
          <p:nvPr>
            <p:ph idx="1"/>
          </p:nvPr>
        </p:nvPicPr>
        <p:blipFill>
          <a:blip r:embed="rId2" cstate="print"/>
          <a:srcRect/>
          <a:stretch>
            <a:fillRect/>
          </a:stretch>
        </p:blipFill>
        <p:spPr bwMode="auto">
          <a:xfrm>
            <a:off x="457200" y="2590800"/>
            <a:ext cx="8229600" cy="1856683"/>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Two-Fiber BLSR</a:t>
            </a:r>
            <a:br>
              <a:rPr lang="en-US" b="1" dirty="0" smtClean="0"/>
            </a:br>
            <a:endParaRPr lang="en-US" dirty="0"/>
          </a:p>
        </p:txBody>
      </p:sp>
      <p:pic>
        <p:nvPicPr>
          <p:cNvPr id="17410" name="Picture 2"/>
          <p:cNvPicPr>
            <a:picLocks noGrp="1" noChangeAspect="1" noChangeArrowheads="1"/>
          </p:cNvPicPr>
          <p:nvPr>
            <p:ph idx="1"/>
          </p:nvPr>
        </p:nvPicPr>
        <p:blipFill>
          <a:blip r:embed="rId2" cstate="print"/>
          <a:srcRect/>
          <a:stretch>
            <a:fillRect/>
          </a:stretch>
        </p:blipFill>
        <p:spPr bwMode="auto">
          <a:xfrm>
            <a:off x="1371600" y="1447800"/>
            <a:ext cx="6934200" cy="5181599"/>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Two-Fiber BLSR Protection</a:t>
            </a:r>
            <a:endParaRPr lang="en-US" dirty="0"/>
          </a:p>
        </p:txBody>
      </p:sp>
      <p:pic>
        <p:nvPicPr>
          <p:cNvPr id="18434" name="Picture 2"/>
          <p:cNvPicPr>
            <a:picLocks noGrp="1" noChangeAspect="1" noChangeArrowheads="1"/>
          </p:cNvPicPr>
          <p:nvPr>
            <p:ph idx="1"/>
          </p:nvPr>
        </p:nvPicPr>
        <p:blipFill>
          <a:blip r:embed="rId2" cstate="print"/>
          <a:srcRect/>
          <a:stretch>
            <a:fillRect/>
          </a:stretch>
        </p:blipFill>
        <p:spPr bwMode="auto">
          <a:xfrm>
            <a:off x="1295400" y="1447800"/>
            <a:ext cx="6629400" cy="4724399"/>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BLSR Node Failure</a:t>
            </a:r>
            <a:endParaRPr lang="en-US" dirty="0"/>
          </a:p>
        </p:txBody>
      </p:sp>
      <p:pic>
        <p:nvPicPr>
          <p:cNvPr id="19458" name="Picture 2"/>
          <p:cNvPicPr>
            <a:picLocks noGrp="1" noChangeAspect="1" noChangeArrowheads="1"/>
          </p:cNvPicPr>
          <p:nvPr>
            <p:ph idx="1"/>
          </p:nvPr>
        </p:nvPicPr>
        <p:blipFill>
          <a:blip r:embed="rId2" cstate="print"/>
          <a:srcRect/>
          <a:stretch>
            <a:fillRect/>
          </a:stretch>
        </p:blipFill>
        <p:spPr bwMode="auto">
          <a:xfrm>
            <a:off x="990600" y="1524001"/>
            <a:ext cx="7924800" cy="50292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Four-Fiber BLSR</a:t>
            </a:r>
            <a:br>
              <a:rPr lang="en-US" b="1" dirty="0" smtClean="0"/>
            </a:br>
            <a:endParaRPr lang="en-US" dirty="0"/>
          </a:p>
        </p:txBody>
      </p:sp>
      <p:pic>
        <p:nvPicPr>
          <p:cNvPr id="20482" name="Picture 2"/>
          <p:cNvPicPr>
            <a:picLocks noGrp="1" noChangeAspect="1" noChangeArrowheads="1"/>
          </p:cNvPicPr>
          <p:nvPr>
            <p:ph idx="1"/>
          </p:nvPr>
        </p:nvPicPr>
        <p:blipFill>
          <a:blip r:embed="rId2" cstate="print"/>
          <a:srcRect/>
          <a:stretch>
            <a:fillRect/>
          </a:stretch>
        </p:blipFill>
        <p:spPr bwMode="auto">
          <a:xfrm>
            <a:off x="1066800" y="1219200"/>
            <a:ext cx="7162800" cy="5029199"/>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945</Words>
  <Application>Microsoft Office PowerPoint</Application>
  <PresentationFormat>On-screen Show (4:3)</PresentationFormat>
  <Paragraphs>56</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SONET Network Elements</vt:lpstr>
      <vt:lpstr>Regenerator </vt:lpstr>
      <vt:lpstr>Terminal Multiplexer</vt:lpstr>
      <vt:lpstr>Terminal Multiplexer</vt:lpstr>
      <vt:lpstr>Add/Drop Multiplexer</vt:lpstr>
      <vt:lpstr>BROADBAND CROSSCONNECT</vt:lpstr>
      <vt:lpstr>Wideband Digital Cross-Connect</vt:lpstr>
      <vt:lpstr>Wideband Digital Cross-Connect</vt:lpstr>
      <vt:lpstr>Digital Loop Carrier</vt:lpstr>
      <vt:lpstr>Digital Loop Carrier</vt:lpstr>
      <vt:lpstr>Multiservice Provisioning Platforms (MSPPs)</vt:lpstr>
      <vt:lpstr>SONET Topologies</vt:lpstr>
      <vt:lpstr>Point-to-Multipoint Topology</vt:lpstr>
      <vt:lpstr>Hub Topology</vt:lpstr>
      <vt:lpstr>Ring Topology</vt:lpstr>
      <vt:lpstr>Mesh Topology</vt:lpstr>
      <vt:lpstr>SONET Ring Architectures</vt:lpstr>
      <vt:lpstr>Two-Fiber Unidirectional Ring</vt:lpstr>
      <vt:lpstr>Two-Fiber Bidirectional Ring</vt:lpstr>
      <vt:lpstr>Four-Fiber Bidirectional Ring</vt:lpstr>
      <vt:lpstr>Path Switching</vt:lpstr>
      <vt:lpstr>Line Switching</vt:lpstr>
      <vt:lpstr>Two-Fiber BLSR </vt:lpstr>
      <vt:lpstr>Two-Fiber BLSR Protection</vt:lpstr>
      <vt:lpstr>BLSR Node Failure</vt:lpstr>
      <vt:lpstr>Four-Fiber BLSR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SONET Network Elements</dc:title>
  <dc:creator> </dc:creator>
  <cp:lastModifiedBy>administrator</cp:lastModifiedBy>
  <cp:revision>7</cp:revision>
  <dcterms:created xsi:type="dcterms:W3CDTF">2012-02-26T23:52:46Z</dcterms:created>
  <dcterms:modified xsi:type="dcterms:W3CDTF">2012-02-27T04:41:11Z</dcterms:modified>
</cp:coreProperties>
</file>